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9" r:id="rId5"/>
    <p:sldId id="270" r:id="rId6"/>
    <p:sldId id="259" r:id="rId7"/>
    <p:sldId id="260" r:id="rId8"/>
    <p:sldId id="261" r:id="rId9"/>
    <p:sldId id="262" r:id="rId10"/>
    <p:sldId id="263" r:id="rId11"/>
    <p:sldId id="264" r:id="rId12"/>
    <p:sldId id="265" r:id="rId13"/>
    <p:sldId id="266"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0021" autoAdjust="0"/>
    <p:restoredTop sz="94610"/>
  </p:normalViewPr>
  <p:slideViewPr>
    <p:cSldViewPr snapToGrid="0" snapToObjects="1">
      <p:cViewPr varScale="1">
        <p:scale>
          <a:sx n="111" d="100"/>
          <a:sy n="111" d="100"/>
        </p:scale>
        <p:origin x="77" y="1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6923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a tutti. Oggi vi presentiamo un progetto di machine learning focalizzato sull'analisi predittiva del prezzo dei diamanti. Il nostro obiettivo è dimostrare come l'intelligenza artificiale possa portare chiarezza in un mercato complesso come quello delle gemme. Questo lavoro unisce la scienza dei dati con l'esperienza del settore per fornire previsioni accurate. Vedremo insieme come abbiamo affrontato questa sfida e quali risultati abbiamo ottenuto.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ora all'obiettivo centrale del nostro progetto. Vogliamo prevedere il prezzo di un diamante basandoci sulle sue caratteristiche. Questo è un classico problema di regressione, dove la variabile target, il prezzo, è una quantità numerica continua. Abbiamo utilizzato un approccio di apprendimento supervisionato, addestrando il modello su dati storici. Questo ci permette di sfruttare i pattern esistenti per fare previsioni affidabili. Ma perché proprio la regressione? Lo vedremo meglio tra poco.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raggiungere il nostro obiettivo, abbiamo lavorato con un dataset robusto. Questo dataset, proveniente da Kaggle, include 6.000 osservazioni e 8 variabili chiave. Abbiamo variabili numeriche come il peso in carati e variabili categoriche che descrivono la qualità del taglio, il colore e la purezza. La ricchezza di queste informazioni ci ha permesso di costruire un modello dettagliato. Ora, esploriamo come si distribuiscono questi prezzi nel nostro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28762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838676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L'analisi esplorativa ci ha rivelato un aspetto cruciale della distribuzione dei prezzi. Come potete vedere, la maggior parte dei diamanti si concentra nella fascia di prezzo più bassa, con un numero limitato di esemplari di lusso. Questa asimmetria positiva è significativa per il nostro modello. Per gestirla, abbiamo applicato una trasformazione logaritmica, che ha migliorato notevolmente le performance. Questa intuizione ci ha guidato nella scelta del modello più adatto.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distribuzione asimmetrica dei prezzi ci ha portato a scegliere il Random Forest Regressor. Questo modello è ideale perché il prezzo dei diamanti non segue una crescita lineare con il peso. Gli alberi di decisione catturano bene queste relazioni esponenziali e i 'salti di prezzo'. Inoltre, essendo un modello ensemble con 100 alberi, è molto robusto. Questo riduce la sensibilità agli outlier e il rischio di overfitting. Ora, vediamo come abbiamo preparato i dati per questo modello.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 parliamo di come abbiamo preparato i nostri dati. La gestione delle variabili categoriche è stata cruciale per catturare la loro vera semantica. Abbiamo usato l'Ordinal Encoding per Cut, Color e Clarity, perché queste categorie hanno una gerarchia intrinseca che il modello deve riconoscere. Questo significa che abbiamo detto al modello che 'Ideal' è meglio di 'Good' per il taglio, per esempio. Invece, per Polish, Symmetry e Report, dove non c'è un ordine naturale, abbiamo optato per il One-Hot Encoding. Questo evita di imporre una relazione inesistente tra le categorie. Tutto questo processo è stato incapsulato in una pipeline Scikit-Learn. Questo è fondamentale per prevenire il data leakage, assicurando che le informazioni dal set di test non contaminino l'addestramento del modello. E questo ci porta al prossimo punto cruciale: come abbiamo gestito la non-linearità dei prezzi.</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preparato le nostre variabili, abbiamo affrontato la non-linearità dei prezzi. Come abbiamo visto, il prezzo dei diamanti non cresce in modo lineare con il peso, ma esponenzialmente. Per questo, abbiamo applicato una trasformazione logaritmica al nostro target, il prezzo. Questa trasformazione ha due grandi vantaggi. Primo, stabilizza la varianza, riducendo l'impatto degli outlier, cioè i diamanti di lusso estremo, e rendendo il modello più robusto per la maggior parte del mercato. Secondo, ottimizza l'errore in termini percentuali, dando il giusto peso a un errore di 100 dollari su un diamante economico rispetto a uno molto costoso. Ricordate, in fase di predizione, applichiamo la funzione inversa per ottenere i prezzi reali in dollari. E con queste tecniche, siamo pronti a vedere le prestazioni del nostro modello.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Passiamo ora all'analisi delle prestazioni, il momento della verità per il nostro modello. I risultati sono davvero eccellenti, con una precisione che supera le aspettative. Il nostro R² Score è di 0.9882, il che significa che il modello spiega quasi il 99% della varianza dei dati. Questo è un indicatore fortissimo della sua capacità predittiva. L'Errore Medio Assoluto, o MAE, è di soli 618 dollari. Questo ci dice che, in media, le nostre previsioni si discostano dal prezzo reale di circa 618 dollari. Infine, il RMSE, che penalizza maggiormente gli errori più grandi, si attesta a 1123 dollari. Questi numeri dimostrano che il modello non solo è preciso, ma è anche affidabile nel prevedere i prezzi dei diamanti. Ma non fidiamoci solo dei numeri, vediamo come si comporta il modello nel mondo reale.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Dopo aver visto le metriche di performance, ora verifichiamo visivamente l'accuratezza del nostro modello. Questo grafico confronta i prezzi reali con quelli predetti dal modello. L'allineamento dei punti lungo la diagonale a 45 gradi è un ottimo segnale. Ci dice che il modello non solo è preciso, ma non ha bias sistematici. Questo significa che le nostre previsioni sono affidabili su tutto il range di prezzi. Passiamo ora a un'analisi più approfondita del comportamento del modello.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Proseguiamo la nostra diagnostica con l'analisi dei residui e l'importanza delle feature. La distribuzione casuale dei residui attorno allo zero ci conferma che il modello è sano e non ha errori sistematici. Non vediamo pattern nascosti che il modello non ha catturato. Poi, l'importanza delle feature ci mostra chiaramente che il peso in carati è il driver principale del prezzo. Questo è esattamente ciò che ci aspettavamo dal mercato dei diamanti. Ora, tiriamo le somme e vediamo i prossimi passi.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conclusione, il nostro modello Random Forest con trasformazione logaritmica ha superato le aspettative. Abbiamo un'architettura robusta e precisa che cattura le complesse relazioni non lineari. Questo ci dà grande fiducia nelle sue previsioni. Per il futuro, esploreremo algoritmi di Gradient Boosting per affinare ulteriormente la precisione. Vogliamo anche integrare dati in tempo reale e sviluppare un'interfaccia web per rendere questo strumento accessibile a tutti.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3829050" cy="5143500"/>
          </a:xfrm>
          <a:prstGeom prst="rect">
            <a:avLst/>
          </a:prstGeom>
          <a:solidFill>
            <a:srgbClr val="0F172A"/>
          </a:solidFill>
          <a:ln/>
        </p:spPr>
      </p:sp>
      <p:sp>
        <p:nvSpPr>
          <p:cNvPr id="5" name="Text 1"/>
          <p:cNvSpPr/>
          <p:nvPr/>
        </p:nvSpPr>
        <p:spPr>
          <a:xfrm>
            <a:off x="285750" y="734941"/>
            <a:ext cx="3543300" cy="2011635"/>
          </a:xfrm>
          <a:prstGeom prst="rect">
            <a:avLst/>
          </a:prstGeom>
          <a:noFill/>
          <a:ln/>
        </p:spPr>
        <p:txBody>
          <a:bodyPr wrap="square" lIns="0" tIns="0" rIns="0" bIns="0" rtlCol="0" anchor="t">
            <a:spAutoFit/>
          </a:bodyPr>
          <a:lstStyle/>
          <a:p>
            <a:pPr marL="0" indent="0" algn="l">
              <a:lnSpc>
                <a:spcPts val="4000"/>
              </a:lnSpc>
              <a:buNone/>
            </a:pPr>
            <a:r>
              <a:rPr lang="en-US" sz="3294" b="1" dirty="0">
                <a:solidFill>
                  <a:srgbClr val="F1F5F9"/>
                </a:solidFill>
              </a:rPr>
              <a:t>Analisi Predittiva del Prezzo di Diamanti</a:t>
            </a:r>
            <a:endParaRPr lang="en-US" sz="3294" dirty="0"/>
          </a:p>
        </p:txBody>
      </p:sp>
      <p:sp>
        <p:nvSpPr>
          <p:cNvPr id="7" name="Shape 3"/>
          <p:cNvSpPr/>
          <p:nvPr/>
        </p:nvSpPr>
        <p:spPr>
          <a:xfrm>
            <a:off x="3829050" y="0"/>
            <a:ext cx="5314950" cy="5143500"/>
          </a:xfrm>
          <a:prstGeom prst="rect">
            <a:avLst/>
          </a:prstGeom>
          <a:solidFill>
            <a:srgbClr val="F1F5F9"/>
          </a:solidFill>
          <a:ln/>
        </p:spPr>
      </p:sp>
      <p:pic>
        <p:nvPicPr>
          <p:cNvPr id="2" name="Immagine 1"/>
          <p:cNvPicPr>
            <a:picLocks noChangeAspect="1"/>
          </p:cNvPicPr>
          <p:nvPr/>
        </p:nvPicPr>
        <p:blipFill rotWithShape="1">
          <a:blip r:embed="rId4">
            <a:extLst>
              <a:ext uri="{28A0092B-C50C-407E-A947-70E740481C1C}">
                <a14:useLocalDpi xmlns:a14="http://schemas.microsoft.com/office/drawing/2010/main" val="0"/>
              </a:ext>
            </a:extLst>
          </a:blip>
          <a:srcRect l="96" t="3227" b="-519"/>
          <a:stretch/>
        </p:blipFill>
        <p:spPr>
          <a:xfrm>
            <a:off x="3834174" y="0"/>
            <a:ext cx="5309826" cy="517109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Obiettivo del Progetto</a:t>
            </a:r>
            <a:endParaRPr lang="en-US" sz="1602" dirty="0"/>
          </a:p>
        </p:txBody>
      </p:sp>
      <p:sp>
        <p:nvSpPr>
          <p:cNvPr id="6" name="Shape 2"/>
          <p:cNvSpPr/>
          <p:nvPr/>
        </p:nvSpPr>
        <p:spPr>
          <a:xfrm>
            <a:off x="2857500" y="857250"/>
            <a:ext cx="428625" cy="428625"/>
          </a:xfrm>
          <a:prstGeom prst="rect">
            <a:avLst/>
          </a:prstGeom>
          <a:solidFill>
            <a:srgbClr val="10B981"/>
          </a:solidFill>
          <a:ln/>
        </p:spPr>
      </p:sp>
      <p:pic>
        <p:nvPicPr>
          <p:cNvPr id="7" name="Image 1" descr="preencoded.png"/>
          <p:cNvPicPr>
            <a:picLocks noChangeAspect="1"/>
          </p:cNvPicPr>
          <p:nvPr/>
        </p:nvPicPr>
        <p:blipFill>
          <a:blip r:embed="rId4"/>
          <a:stretch>
            <a:fillRect/>
          </a:stretch>
        </p:blipFill>
        <p:spPr>
          <a:xfrm>
            <a:off x="2986088" y="985838"/>
            <a:ext cx="171450" cy="171450"/>
          </a:xfrm>
          <a:prstGeom prst="rect">
            <a:avLst/>
          </a:prstGeom>
        </p:spPr>
      </p:pic>
      <p:sp>
        <p:nvSpPr>
          <p:cNvPr id="8" name="Text 3"/>
          <p:cNvSpPr/>
          <p:nvPr/>
        </p:nvSpPr>
        <p:spPr>
          <a:xfrm>
            <a:off x="3464719" y="857250"/>
            <a:ext cx="52506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rPr>
              <a:t>Perché la Regressione?</a:t>
            </a:r>
            <a:endParaRPr lang="en-US" sz="1397" dirty="0"/>
          </a:p>
        </p:txBody>
      </p:sp>
      <p:sp>
        <p:nvSpPr>
          <p:cNvPr id="9" name="Text 4"/>
          <p:cNvSpPr/>
          <p:nvPr/>
        </p:nvSpPr>
        <p:spPr>
          <a:xfrm>
            <a:off x="3464719" y="1330523"/>
            <a:ext cx="5250656"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334155"/>
                </a:solidFill>
              </a:rPr>
              <a:t>Prevedere il valore di mercato dei diamanti basandosi sulle loro caratteristiche fisiche e gemmologiche.</a:t>
            </a:r>
            <a:endParaRPr lang="en-US" sz="1050" dirty="0"/>
          </a:p>
        </p:txBody>
      </p:sp>
      <p:sp>
        <p:nvSpPr>
          <p:cNvPr id="10" name="Shape 5"/>
          <p:cNvSpPr/>
          <p:nvPr/>
        </p:nvSpPr>
        <p:spPr>
          <a:xfrm>
            <a:off x="2857500" y="2187773"/>
            <a:ext cx="428625" cy="428625"/>
          </a:xfrm>
          <a:prstGeom prst="rect">
            <a:avLst/>
          </a:prstGeom>
          <a:solidFill>
            <a:srgbClr val="10B981"/>
          </a:solidFill>
          <a:ln/>
        </p:spPr>
      </p:sp>
      <p:pic>
        <p:nvPicPr>
          <p:cNvPr id="11" name="Image 2" descr="preencoded.png"/>
          <p:cNvPicPr>
            <a:picLocks noChangeAspect="1"/>
          </p:cNvPicPr>
          <p:nvPr/>
        </p:nvPicPr>
        <p:blipFill>
          <a:blip r:embed="rId5"/>
          <a:stretch>
            <a:fillRect/>
          </a:stretch>
        </p:blipFill>
        <p:spPr>
          <a:xfrm>
            <a:off x="2986088" y="2316361"/>
            <a:ext cx="171450" cy="171450"/>
          </a:xfrm>
          <a:prstGeom prst="rect">
            <a:avLst/>
          </a:prstGeom>
        </p:spPr>
      </p:pic>
      <p:sp>
        <p:nvSpPr>
          <p:cNvPr id="12" name="Text 6"/>
          <p:cNvSpPr/>
          <p:nvPr/>
        </p:nvSpPr>
        <p:spPr>
          <a:xfrm>
            <a:off x="3464719" y="2187773"/>
            <a:ext cx="525065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rPr>
              <a:t>Task di Machine Learning</a:t>
            </a:r>
            <a:endParaRPr lang="en-US" sz="1397" dirty="0"/>
          </a:p>
        </p:txBody>
      </p:sp>
      <p:sp>
        <p:nvSpPr>
          <p:cNvPr id="13" name="Text 7"/>
          <p:cNvSpPr/>
          <p:nvPr/>
        </p:nvSpPr>
        <p:spPr>
          <a:xfrm>
            <a:off x="3464719" y="2661047"/>
            <a:ext cx="5250656" cy="428625"/>
          </a:xfrm>
          <a:prstGeom prst="rect">
            <a:avLst/>
          </a:prstGeom>
          <a:noFill/>
          <a:ln/>
        </p:spPr>
        <p:txBody>
          <a:bodyPr wrap="square" lIns="0" tIns="0" rIns="0" bIns="0" rtlCol="0" anchor="t">
            <a:spAutoFit/>
          </a:bodyPr>
          <a:lstStyle/>
          <a:p>
            <a:pPr marL="0" indent="0" algn="l">
              <a:lnSpc>
                <a:spcPts val="1700"/>
              </a:lnSpc>
              <a:buNone/>
            </a:pPr>
            <a:r>
              <a:rPr lang="en-US" sz="1050" dirty="0">
                <a:solidFill>
                  <a:srgbClr val="334155"/>
                </a:solidFill>
              </a:rPr>
              <a:t>Si tratta di un problema di </a:t>
            </a:r>
            <a:r>
              <a:rPr lang="en-US" sz="987" b="1" dirty="0">
                <a:solidFill>
                  <a:srgbClr val="10B981"/>
                </a:solidFill>
              </a:rPr>
              <a:t>Apprendimento Supervisionato</a:t>
            </a:r>
            <a:r>
              <a:rPr lang="en-US" sz="1050" dirty="0">
                <a:solidFill>
                  <a:srgbClr val="334155"/>
                </a:solidFill>
              </a:rPr>
              <a:t> per la previsione di una variabile numerica continua.</a:t>
            </a:r>
            <a:endParaRPr lang="en-US" sz="1050" dirty="0"/>
          </a:p>
        </p:txBody>
      </p:sp>
      <p:sp>
        <p:nvSpPr>
          <p:cNvPr id="14" name="Shape 8"/>
          <p:cNvSpPr/>
          <p:nvPr/>
        </p:nvSpPr>
        <p:spPr>
          <a:xfrm>
            <a:off x="2857500" y="3518297"/>
            <a:ext cx="428625" cy="428625"/>
          </a:xfrm>
          <a:prstGeom prst="rect">
            <a:avLst/>
          </a:prstGeom>
          <a:solidFill>
            <a:srgbClr val="10B981"/>
          </a:solidFill>
          <a:ln/>
        </p:spPr>
      </p:sp>
      <p:pic>
        <p:nvPicPr>
          <p:cNvPr id="15" name="Image 3" descr="preencoded.png"/>
          <p:cNvPicPr>
            <a:picLocks noChangeAspect="1"/>
          </p:cNvPicPr>
          <p:nvPr/>
        </p:nvPicPr>
        <p:blipFill>
          <a:blip r:embed="rId6"/>
          <a:stretch>
            <a:fillRect/>
          </a:stretch>
        </p:blipFill>
        <p:spPr>
          <a:xfrm>
            <a:off x="3018234" y="3646884"/>
            <a:ext cx="107156" cy="171450"/>
          </a:xfrm>
          <a:prstGeom prst="rect">
            <a:avLst/>
          </a:prstGeom>
        </p:spPr>
      </p:pic>
      <p:sp>
        <p:nvSpPr>
          <p:cNvPr id="16" name="Text 9"/>
          <p:cNvSpPr/>
          <p:nvPr/>
        </p:nvSpPr>
        <p:spPr>
          <a:xfrm>
            <a:off x="3464719" y="3518297"/>
            <a:ext cx="3403746"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rPr>
              <a:t>Variabile Target</a:t>
            </a:r>
            <a:endParaRPr lang="en-US" sz="1397" dirty="0"/>
          </a:p>
        </p:txBody>
      </p:sp>
      <p:sp>
        <p:nvSpPr>
          <p:cNvPr id="17" name="Text 10"/>
          <p:cNvSpPr/>
          <p:nvPr/>
        </p:nvSpPr>
        <p:spPr>
          <a:xfrm>
            <a:off x="3464719" y="3991570"/>
            <a:ext cx="3403746" cy="214313"/>
          </a:xfrm>
          <a:prstGeom prst="rect">
            <a:avLst/>
          </a:prstGeom>
          <a:noFill/>
          <a:ln/>
        </p:spPr>
        <p:txBody>
          <a:bodyPr wrap="none" lIns="0" tIns="0" rIns="0" bIns="0" rtlCol="0" anchor="t">
            <a:spAutoFit/>
          </a:bodyPr>
          <a:lstStyle/>
          <a:p>
            <a:pPr marL="0" indent="0" algn="l">
              <a:lnSpc>
                <a:spcPts val="1700"/>
              </a:lnSpc>
              <a:buNone/>
            </a:pPr>
            <a:r>
              <a:rPr lang="en-US" sz="1050" dirty="0">
                <a:solidFill>
                  <a:srgbClr val="334155"/>
                </a:solidFill>
              </a:rPr>
              <a:t>Il </a:t>
            </a:r>
            <a:r>
              <a:rPr lang="en-US" sz="987" b="1" dirty="0">
                <a:solidFill>
                  <a:srgbClr val="10B981"/>
                </a:solidFill>
              </a:rPr>
              <a:t>Prezzo (Price)</a:t>
            </a:r>
            <a:r>
              <a:rPr lang="en-US" sz="1050" dirty="0">
                <a:solidFill>
                  <a:srgbClr val="334155"/>
                </a:solidFill>
              </a:rPr>
              <a:t> espresso in dollari statunitensi ($).</a:t>
            </a:r>
            <a:endParaRPr lang="en-US" sz="1050" dirty="0"/>
          </a:p>
        </p:txBody>
      </p:sp>
      <p:sp>
        <p:nvSpPr>
          <p:cNvPr id="2" name="CasellaDiTesto 1"/>
          <p:cNvSpPr txBox="1"/>
          <p:nvPr/>
        </p:nvSpPr>
        <p:spPr>
          <a:xfrm>
            <a:off x="203769" y="1292094"/>
            <a:ext cx="1946648" cy="2031325"/>
          </a:xfrm>
          <a:prstGeom prst="rect">
            <a:avLst/>
          </a:prstGeom>
          <a:noFill/>
        </p:spPr>
        <p:txBody>
          <a:bodyPr wrap="square" rtlCol="0">
            <a:spAutoFit/>
          </a:bodyPr>
          <a:lstStyle/>
          <a:p>
            <a:r>
              <a:rPr lang="it-IT" dirty="0">
                <a:solidFill>
                  <a:schemeClr val="bg1"/>
                </a:solidFill>
              </a:rPr>
              <a:t>L’obbiettivo del progetto è quello di prevedere il prezzo di diamanti basandosi sulle loro caratteristiche </a:t>
            </a:r>
            <a:r>
              <a:rPr lang="it-IT" dirty="0" smtClean="0">
                <a:solidFill>
                  <a:schemeClr val="bg1"/>
                </a:solidFill>
              </a:rPr>
              <a:t>gemmologiche.</a:t>
            </a:r>
            <a:endParaRPr lang="it-IT" dirty="0">
              <a:solidFill>
                <a:schemeClr val="bg1"/>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627491" y="16074"/>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Il Dataset Utilizzato</a:t>
            </a:r>
            <a:endParaRPr lang="en-US" sz="1602" dirty="0"/>
          </a:p>
        </p:txBody>
      </p:sp>
      <p:sp>
        <p:nvSpPr>
          <p:cNvPr id="6" name="Shape 2"/>
          <p:cNvSpPr/>
          <p:nvPr/>
        </p:nvSpPr>
        <p:spPr>
          <a:xfrm>
            <a:off x="2857500" y="571500"/>
            <a:ext cx="2771775" cy="1000125"/>
          </a:xfrm>
          <a:prstGeom prst="rect">
            <a:avLst/>
          </a:prstGeom>
          <a:solidFill>
            <a:srgbClr val="334155"/>
          </a:solidFill>
          <a:ln/>
        </p:spPr>
      </p:sp>
      <p:sp>
        <p:nvSpPr>
          <p:cNvPr id="7" name="Text 3"/>
          <p:cNvSpPr/>
          <p:nvPr/>
        </p:nvSpPr>
        <p:spPr>
          <a:xfrm>
            <a:off x="3071813" y="714375"/>
            <a:ext cx="2343150" cy="466130"/>
          </a:xfrm>
          <a:prstGeom prst="rect">
            <a:avLst/>
          </a:prstGeom>
          <a:noFill/>
          <a:ln/>
        </p:spPr>
        <p:txBody>
          <a:bodyPr wrap="none" lIns="0" tIns="0" rIns="0" bIns="0" rtlCol="0" anchor="t">
            <a:spAutoFit/>
          </a:bodyPr>
          <a:lstStyle/>
          <a:p>
            <a:pPr marL="0" indent="0" algn="l">
              <a:lnSpc>
                <a:spcPts val="3200"/>
              </a:lnSpc>
              <a:buNone/>
            </a:pPr>
            <a:r>
              <a:rPr lang="en-US" sz="2592" dirty="0">
                <a:solidFill>
                  <a:srgbClr val="10B981"/>
                </a:solidFill>
              </a:rPr>
              <a:t>6.000</a:t>
            </a:r>
            <a:endParaRPr lang="en-US" sz="2592" dirty="0"/>
          </a:p>
        </p:txBody>
      </p:sp>
      <p:sp>
        <p:nvSpPr>
          <p:cNvPr id="8" name="Text 4"/>
          <p:cNvSpPr/>
          <p:nvPr/>
        </p:nvSpPr>
        <p:spPr>
          <a:xfrm>
            <a:off x="3071813" y="1216223"/>
            <a:ext cx="2343150"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Osservazioni</a:t>
            </a:r>
            <a:endParaRPr lang="en-US" sz="942" dirty="0"/>
          </a:p>
        </p:txBody>
      </p:sp>
      <p:sp>
        <p:nvSpPr>
          <p:cNvPr id="9" name="Shape 5"/>
          <p:cNvSpPr/>
          <p:nvPr/>
        </p:nvSpPr>
        <p:spPr>
          <a:xfrm>
            <a:off x="5943600" y="571500"/>
            <a:ext cx="2771775" cy="1000125"/>
          </a:xfrm>
          <a:prstGeom prst="rect">
            <a:avLst/>
          </a:prstGeom>
          <a:solidFill>
            <a:srgbClr val="334155"/>
          </a:solidFill>
          <a:ln/>
        </p:spPr>
      </p:sp>
      <p:sp>
        <p:nvSpPr>
          <p:cNvPr id="10" name="Text 6"/>
          <p:cNvSpPr/>
          <p:nvPr/>
        </p:nvSpPr>
        <p:spPr>
          <a:xfrm>
            <a:off x="6157913" y="714375"/>
            <a:ext cx="2343150" cy="466130"/>
          </a:xfrm>
          <a:prstGeom prst="rect">
            <a:avLst/>
          </a:prstGeom>
          <a:noFill/>
          <a:ln/>
        </p:spPr>
        <p:txBody>
          <a:bodyPr wrap="none" lIns="0" tIns="0" rIns="0" bIns="0" rtlCol="0" anchor="t">
            <a:spAutoFit/>
          </a:bodyPr>
          <a:lstStyle/>
          <a:p>
            <a:pPr marL="0" indent="0" algn="l">
              <a:lnSpc>
                <a:spcPts val="3200"/>
              </a:lnSpc>
              <a:buNone/>
            </a:pPr>
            <a:r>
              <a:rPr lang="en-US" sz="2592" dirty="0">
                <a:solidFill>
                  <a:srgbClr val="10B981"/>
                </a:solidFill>
              </a:rPr>
              <a:t>8</a:t>
            </a:r>
            <a:endParaRPr lang="en-US" sz="2592" dirty="0"/>
          </a:p>
        </p:txBody>
      </p:sp>
      <p:sp>
        <p:nvSpPr>
          <p:cNvPr id="11" name="Text 7"/>
          <p:cNvSpPr/>
          <p:nvPr/>
        </p:nvSpPr>
        <p:spPr>
          <a:xfrm>
            <a:off x="6157913" y="1216223"/>
            <a:ext cx="2343150" cy="175022"/>
          </a:xfrm>
          <a:prstGeom prst="rect">
            <a:avLst/>
          </a:prstGeom>
          <a:noFill/>
          <a:ln/>
        </p:spPr>
        <p:txBody>
          <a:bodyPr wrap="none" lIns="0" tIns="0" rIns="0" bIns="0" rtlCol="0" anchor="t">
            <a:spAutoFit/>
          </a:bodyPr>
          <a:lstStyle/>
          <a:p>
            <a:pPr marL="0" indent="0" algn="l">
              <a:lnSpc>
                <a:spcPts val="1200"/>
              </a:lnSpc>
              <a:buNone/>
            </a:pPr>
            <a:r>
              <a:rPr lang="en-US" sz="942" dirty="0">
                <a:solidFill>
                  <a:srgbClr val="FFFFFF"/>
                </a:solidFill>
              </a:rPr>
              <a:t>Variabili</a:t>
            </a:r>
            <a:endParaRPr lang="en-US" sz="942" dirty="0"/>
          </a:p>
        </p:txBody>
      </p:sp>
      <p:sp>
        <p:nvSpPr>
          <p:cNvPr id="12" name="Shape 8"/>
          <p:cNvSpPr/>
          <p:nvPr/>
        </p:nvSpPr>
        <p:spPr>
          <a:xfrm>
            <a:off x="2857500" y="1857375"/>
            <a:ext cx="1364400" cy="289322"/>
          </a:xfrm>
          <a:prstGeom prst="rect">
            <a:avLst/>
          </a:prstGeom>
          <a:solidFill>
            <a:srgbClr val="0F172A"/>
          </a:solidFill>
          <a:ln/>
        </p:spPr>
      </p:sp>
      <p:sp>
        <p:nvSpPr>
          <p:cNvPr id="13" name="Text 9"/>
          <p:cNvSpPr/>
          <p:nvPr/>
        </p:nvSpPr>
        <p:spPr>
          <a:xfrm>
            <a:off x="2857500" y="1857375"/>
            <a:ext cx="1364400" cy="289322"/>
          </a:xfrm>
          <a:prstGeom prst="rect">
            <a:avLst/>
          </a:prstGeom>
          <a:noFill/>
          <a:ln/>
        </p:spPr>
        <p:txBody>
          <a:bodyPr wrap="square" lIns="127508" tIns="127508" rIns="8509" bIns="8509" rtlCol="0" anchor="ctr">
            <a:spAutoFit/>
          </a:bodyPr>
          <a:lstStyle/>
          <a:p>
            <a:pPr marL="0" indent="0" algn="l">
              <a:lnSpc>
                <a:spcPts val="1200"/>
              </a:lnSpc>
              <a:buNone/>
            </a:pPr>
            <a:r>
              <a:rPr lang="en-US" sz="885" b="1" dirty="0">
                <a:solidFill>
                  <a:srgbClr val="FFFFFF"/>
                </a:solidFill>
              </a:rPr>
              <a:t>Categoria</a:t>
            </a:r>
            <a:endParaRPr lang="en-US" sz="885" dirty="0"/>
          </a:p>
        </p:txBody>
      </p:sp>
      <p:sp>
        <p:nvSpPr>
          <p:cNvPr id="14" name="Shape 10"/>
          <p:cNvSpPr/>
          <p:nvPr/>
        </p:nvSpPr>
        <p:spPr>
          <a:xfrm>
            <a:off x="4221900" y="1857375"/>
            <a:ext cx="4493475" cy="289322"/>
          </a:xfrm>
          <a:prstGeom prst="rect">
            <a:avLst/>
          </a:prstGeom>
          <a:solidFill>
            <a:srgbClr val="0F172A"/>
          </a:solidFill>
          <a:ln/>
        </p:spPr>
      </p:sp>
      <p:sp>
        <p:nvSpPr>
          <p:cNvPr id="15" name="Text 11"/>
          <p:cNvSpPr/>
          <p:nvPr/>
        </p:nvSpPr>
        <p:spPr>
          <a:xfrm>
            <a:off x="4221900" y="1857375"/>
            <a:ext cx="4493475" cy="289322"/>
          </a:xfrm>
          <a:prstGeom prst="rect">
            <a:avLst/>
          </a:prstGeom>
          <a:noFill/>
          <a:ln/>
        </p:spPr>
        <p:txBody>
          <a:bodyPr wrap="square" lIns="127508" tIns="127508" rIns="8509" bIns="8509" rtlCol="0" anchor="ctr">
            <a:spAutoFit/>
          </a:bodyPr>
          <a:lstStyle/>
          <a:p>
            <a:pPr marL="0" indent="0" algn="l">
              <a:lnSpc>
                <a:spcPts val="1200"/>
              </a:lnSpc>
              <a:buNone/>
            </a:pPr>
            <a:r>
              <a:rPr lang="en-US" sz="885" b="1" dirty="0">
                <a:solidFill>
                  <a:srgbClr val="FFFFFF"/>
                </a:solidFill>
              </a:rPr>
              <a:t>Variabili</a:t>
            </a:r>
            <a:endParaRPr lang="en-US" sz="885" dirty="0"/>
          </a:p>
        </p:txBody>
      </p:sp>
      <p:sp>
        <p:nvSpPr>
          <p:cNvPr id="16" name="Text 12"/>
          <p:cNvSpPr/>
          <p:nvPr/>
        </p:nvSpPr>
        <p:spPr>
          <a:xfrm>
            <a:off x="2964656" y="2284214"/>
            <a:ext cx="60839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0B981"/>
                </a:solidFill>
              </a:rPr>
              <a:t>NUMERICHE</a:t>
            </a:r>
            <a:endParaRPr lang="en-US" sz="683" dirty="0"/>
          </a:p>
        </p:txBody>
      </p:sp>
      <p:sp>
        <p:nvSpPr>
          <p:cNvPr id="17" name="Text 13"/>
          <p:cNvSpPr/>
          <p:nvPr/>
        </p:nvSpPr>
        <p:spPr>
          <a:xfrm>
            <a:off x="4221900" y="2146697"/>
            <a:ext cx="4493475" cy="292894"/>
          </a:xfrm>
          <a:prstGeom prst="rect">
            <a:avLst/>
          </a:prstGeom>
          <a:noFill/>
          <a:ln/>
        </p:spPr>
        <p:txBody>
          <a:bodyPr wrap="square" lIns="127508" tIns="127508" rIns="8509" bIns="8509" rtlCol="0" anchor="ctr">
            <a:spAutoFit/>
          </a:bodyPr>
          <a:lstStyle/>
          <a:p>
            <a:pPr marL="0" indent="0" algn="l">
              <a:lnSpc>
                <a:spcPts val="1200"/>
              </a:lnSpc>
              <a:buNone/>
            </a:pPr>
            <a:r>
              <a:rPr lang="en-US" sz="942" dirty="0">
                <a:solidFill>
                  <a:srgbClr val="334155"/>
                </a:solidFill>
              </a:rPr>
              <a:t>Carat Weight (Peso), Price (Target)</a:t>
            </a:r>
            <a:endParaRPr lang="en-US" sz="942" dirty="0"/>
          </a:p>
        </p:txBody>
      </p:sp>
      <p:sp>
        <p:nvSpPr>
          <p:cNvPr id="18" name="Text 14"/>
          <p:cNvSpPr/>
          <p:nvPr/>
        </p:nvSpPr>
        <p:spPr>
          <a:xfrm>
            <a:off x="2964656" y="2580680"/>
            <a:ext cx="692804"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0B981"/>
                </a:solidFill>
              </a:rPr>
              <a:t>CATEGORICHE</a:t>
            </a:r>
            <a:endParaRPr lang="en-US" sz="683" dirty="0"/>
          </a:p>
        </p:txBody>
      </p:sp>
      <p:sp>
        <p:nvSpPr>
          <p:cNvPr id="19" name="Text 15"/>
          <p:cNvSpPr/>
          <p:nvPr/>
        </p:nvSpPr>
        <p:spPr>
          <a:xfrm>
            <a:off x="4221900" y="2439591"/>
            <a:ext cx="4493475" cy="296466"/>
          </a:xfrm>
          <a:prstGeom prst="rect">
            <a:avLst/>
          </a:prstGeom>
          <a:noFill/>
          <a:ln/>
        </p:spPr>
        <p:txBody>
          <a:bodyPr wrap="square" lIns="127508" tIns="127508" rIns="8509" bIns="8509" rtlCol="0" anchor="ctr">
            <a:spAutoFit/>
          </a:bodyPr>
          <a:lstStyle/>
          <a:p>
            <a:pPr marL="0" indent="0" algn="l">
              <a:lnSpc>
                <a:spcPts val="1200"/>
              </a:lnSpc>
              <a:buNone/>
            </a:pPr>
            <a:r>
              <a:rPr lang="en-US" sz="942" dirty="0">
                <a:solidFill>
                  <a:srgbClr val="334155"/>
                </a:solidFill>
              </a:rPr>
              <a:t>Cut, Color, Clarity, Polish, Symmetry, Report</a:t>
            </a:r>
            <a:endParaRPr lang="en-US" sz="942" dirty="0"/>
          </a:p>
        </p:txBody>
      </p:sp>
      <p:sp>
        <p:nvSpPr>
          <p:cNvPr id="20" name="Text 16"/>
          <p:cNvSpPr/>
          <p:nvPr/>
        </p:nvSpPr>
        <p:spPr>
          <a:xfrm>
            <a:off x="2964656" y="2877145"/>
            <a:ext cx="712896"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10B981"/>
                </a:solidFill>
              </a:rPr>
              <a:t>PROVENIENZA</a:t>
            </a:r>
            <a:endParaRPr lang="en-US" sz="683" dirty="0"/>
          </a:p>
        </p:txBody>
      </p:sp>
      <p:sp>
        <p:nvSpPr>
          <p:cNvPr id="21" name="Text 17"/>
          <p:cNvSpPr/>
          <p:nvPr/>
        </p:nvSpPr>
        <p:spPr>
          <a:xfrm>
            <a:off x="4221900" y="2736056"/>
            <a:ext cx="4493475" cy="296466"/>
          </a:xfrm>
          <a:prstGeom prst="rect">
            <a:avLst/>
          </a:prstGeom>
          <a:noFill/>
          <a:ln/>
        </p:spPr>
        <p:txBody>
          <a:bodyPr wrap="square" lIns="127508" tIns="127508" rIns="8509" bIns="8509" rtlCol="0" anchor="ctr">
            <a:spAutoFit/>
          </a:bodyPr>
          <a:lstStyle/>
          <a:p>
            <a:pPr marL="0" indent="0" algn="l">
              <a:lnSpc>
                <a:spcPts val="1200"/>
              </a:lnSpc>
              <a:buNone/>
            </a:pPr>
            <a:r>
              <a:rPr lang="en-US" sz="942" dirty="0">
                <a:solidFill>
                  <a:srgbClr val="334155"/>
                </a:solidFill>
              </a:rPr>
              <a:t>Kaggle (Beginner-level datasets)</a:t>
            </a:r>
            <a:endParaRPr lang="en-US" sz="942" dirty="0"/>
          </a:p>
        </p:txBody>
      </p:sp>
      <p:sp>
        <p:nvSpPr>
          <p:cNvPr id="2" name="CasellaDiTesto 1"/>
          <p:cNvSpPr txBox="1"/>
          <p:nvPr/>
        </p:nvSpPr>
        <p:spPr>
          <a:xfrm>
            <a:off x="0" y="1380410"/>
            <a:ext cx="2313152" cy="2062103"/>
          </a:xfrm>
          <a:prstGeom prst="rect">
            <a:avLst/>
          </a:prstGeom>
          <a:noFill/>
        </p:spPr>
        <p:txBody>
          <a:bodyPr wrap="square" rtlCol="0">
            <a:spAutoFit/>
          </a:bodyPr>
          <a:lstStyle/>
          <a:p>
            <a:r>
              <a:rPr lang="it-IT" sz="1600" dirty="0">
                <a:solidFill>
                  <a:schemeClr val="bg1"/>
                </a:solidFill>
              </a:rPr>
              <a:t>Il </a:t>
            </a:r>
            <a:r>
              <a:rPr lang="it-IT" sz="1600" dirty="0" smtClean="0">
                <a:solidFill>
                  <a:schemeClr val="bg1"/>
                </a:solidFill>
              </a:rPr>
              <a:t>data-set </a:t>
            </a:r>
            <a:r>
              <a:rPr lang="it-IT" sz="1600" dirty="0">
                <a:solidFill>
                  <a:schemeClr val="bg1"/>
                </a:solidFill>
              </a:rPr>
              <a:t>è composto da 6.000 osservazioni e 8 variabili. Rappresenta un campione eterogeneo di diamanti certificati, con prezzi che variano da poche centinaia a decine di migliaia di dollari.</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2286000" cy="5143500"/>
          </a:xfrm>
          <a:prstGeom prst="rect">
            <a:avLst/>
          </a:prstGeom>
          <a:solidFill>
            <a:srgbClr val="0F172A"/>
          </a:solidFill>
          <a:ln/>
        </p:spPr>
      </p:sp>
      <p:sp>
        <p:nvSpPr>
          <p:cNvPr id="4" name="Text 1"/>
          <p:cNvSpPr/>
          <p:nvPr/>
        </p:nvSpPr>
        <p:spPr>
          <a:xfrm>
            <a:off x="285750" y="618353"/>
            <a:ext cx="171450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FFFF"/>
                </a:solidFill>
              </a:rPr>
              <a:t>Il Dataset Utilizzato</a:t>
            </a:r>
            <a:endParaRPr lang="en-US" sz="1602" dirty="0"/>
          </a:p>
        </p:txBody>
      </p:sp>
      <p:sp>
        <p:nvSpPr>
          <p:cNvPr id="5" name="Shape 2"/>
          <p:cNvSpPr/>
          <p:nvPr/>
        </p:nvSpPr>
        <p:spPr>
          <a:xfrm>
            <a:off x="2714625" y="285750"/>
            <a:ext cx="428625" cy="428625"/>
          </a:xfrm>
          <a:prstGeom prst="rect">
            <a:avLst/>
          </a:prstGeom>
          <a:solidFill>
            <a:srgbClr val="10B981"/>
          </a:solidFill>
          <a:ln/>
        </p:spPr>
      </p:sp>
      <p:pic>
        <p:nvPicPr>
          <p:cNvPr id="6" name="Image 1" descr="preencoded.png"/>
          <p:cNvPicPr>
            <a:picLocks noChangeAspect="1"/>
          </p:cNvPicPr>
          <p:nvPr/>
        </p:nvPicPr>
        <p:blipFill>
          <a:blip r:embed="rId4"/>
          <a:stretch>
            <a:fillRect/>
          </a:stretch>
        </p:blipFill>
        <p:spPr>
          <a:xfrm>
            <a:off x="2853928" y="414338"/>
            <a:ext cx="150019" cy="171450"/>
          </a:xfrm>
          <a:prstGeom prst="rect">
            <a:avLst/>
          </a:prstGeom>
        </p:spPr>
      </p:pic>
      <p:sp>
        <p:nvSpPr>
          <p:cNvPr id="7" name="Text 3"/>
          <p:cNvSpPr/>
          <p:nvPr/>
        </p:nvSpPr>
        <p:spPr>
          <a:xfrm>
            <a:off x="3286125" y="457200"/>
            <a:ext cx="1002069"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Origine dei Dati</a:t>
            </a:r>
            <a:endParaRPr lang="en-US" sz="1200" dirty="0"/>
          </a:p>
        </p:txBody>
      </p:sp>
      <p:sp>
        <p:nvSpPr>
          <p:cNvPr id="8" name="Text 4"/>
          <p:cNvSpPr/>
          <p:nvPr/>
        </p:nvSpPr>
        <p:spPr>
          <a:xfrm>
            <a:off x="3286125" y="819745"/>
            <a:ext cx="5429250" cy="41143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475569"/>
                </a:solidFill>
              </a:rPr>
              <a:t>Il dataset </a:t>
            </a:r>
            <a:r>
              <a:rPr lang="en-US" sz="1100" b="1" dirty="0">
                <a:solidFill>
                  <a:srgbClr val="10B981"/>
                </a:solidFill>
              </a:rPr>
              <a:t>diamond.csv</a:t>
            </a:r>
            <a:r>
              <a:rPr lang="en-US" sz="1100" dirty="0">
                <a:solidFill>
                  <a:srgbClr val="475569"/>
                </a:solidFill>
              </a:rPr>
              <a:t> è stato selezionato dalla collezione "Beginner-level datasets" di </a:t>
            </a:r>
            <a:r>
              <a:rPr lang="en-US" sz="1100" b="1" dirty="0">
                <a:solidFill>
                  <a:srgbClr val="10B981"/>
                </a:solidFill>
              </a:rPr>
              <a:t>Kaggle.com</a:t>
            </a:r>
            <a:r>
              <a:rPr lang="en-US" sz="1100" dirty="0">
                <a:solidFill>
                  <a:srgbClr val="475569"/>
                </a:solidFill>
              </a:rPr>
              <a:t>, risorsa standard per l'analisi predittiva nel settore gemmologico.</a:t>
            </a:r>
            <a:endParaRPr lang="en-US" sz="1100" dirty="0"/>
          </a:p>
        </p:txBody>
      </p:sp>
      <p:sp>
        <p:nvSpPr>
          <p:cNvPr id="9" name="Shape 5"/>
          <p:cNvSpPr/>
          <p:nvPr/>
        </p:nvSpPr>
        <p:spPr>
          <a:xfrm>
            <a:off x="2714625" y="1645518"/>
            <a:ext cx="428625" cy="428625"/>
          </a:xfrm>
          <a:prstGeom prst="rect">
            <a:avLst/>
          </a:prstGeom>
          <a:solidFill>
            <a:srgbClr val="10B981"/>
          </a:solidFill>
          <a:ln/>
        </p:spPr>
      </p:sp>
      <p:pic>
        <p:nvPicPr>
          <p:cNvPr id="10" name="Image 2" descr="preencoded.png"/>
          <p:cNvPicPr>
            <a:picLocks noChangeAspect="1"/>
          </p:cNvPicPr>
          <p:nvPr/>
        </p:nvPicPr>
        <p:blipFill>
          <a:blip r:embed="rId5"/>
          <a:stretch>
            <a:fillRect/>
          </a:stretch>
        </p:blipFill>
        <p:spPr>
          <a:xfrm>
            <a:off x="2832497" y="1774106"/>
            <a:ext cx="192881" cy="171450"/>
          </a:xfrm>
          <a:prstGeom prst="rect">
            <a:avLst/>
          </a:prstGeom>
        </p:spPr>
      </p:pic>
      <p:sp>
        <p:nvSpPr>
          <p:cNvPr id="11" name="Text 6"/>
          <p:cNvSpPr/>
          <p:nvPr/>
        </p:nvSpPr>
        <p:spPr>
          <a:xfrm>
            <a:off x="3286125" y="1816968"/>
            <a:ext cx="1623458"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Composizione e Struttura</a:t>
            </a:r>
            <a:endParaRPr lang="en-US" sz="1200" dirty="0"/>
          </a:p>
        </p:txBody>
      </p:sp>
      <p:sp>
        <p:nvSpPr>
          <p:cNvPr id="12" name="Text 7"/>
          <p:cNvSpPr/>
          <p:nvPr/>
        </p:nvSpPr>
        <p:spPr>
          <a:xfrm>
            <a:off x="3286125" y="2179513"/>
            <a:ext cx="5429250" cy="396327"/>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475569"/>
                </a:solidFill>
              </a:rPr>
              <a:t>Il dataset comprende </a:t>
            </a:r>
            <a:r>
              <a:rPr lang="en-US" sz="1100" b="1" dirty="0">
                <a:solidFill>
                  <a:srgbClr val="10B981"/>
                </a:solidFill>
              </a:rPr>
              <a:t>6.000 osservazioni</a:t>
            </a:r>
            <a:r>
              <a:rPr lang="en-US" sz="1100" dirty="0">
                <a:solidFill>
                  <a:srgbClr val="475569"/>
                </a:solidFill>
              </a:rPr>
              <a:t> e </a:t>
            </a:r>
            <a:r>
              <a:rPr lang="en-US" sz="1100" b="1" dirty="0">
                <a:solidFill>
                  <a:srgbClr val="10B981"/>
                </a:solidFill>
              </a:rPr>
              <a:t>8 variabili</a:t>
            </a:r>
            <a:r>
              <a:rPr lang="en-US" sz="1100" dirty="0">
                <a:solidFill>
                  <a:srgbClr val="475569"/>
                </a:solidFill>
              </a:rPr>
              <a:t> chiave, rappresentando un campione eterogeneo di diamanti certificati.</a:t>
            </a:r>
            <a:endParaRPr lang="en-US" sz="1100" dirty="0"/>
          </a:p>
        </p:txBody>
      </p:sp>
      <p:sp>
        <p:nvSpPr>
          <p:cNvPr id="13" name="Shape 8"/>
          <p:cNvSpPr/>
          <p:nvPr/>
        </p:nvSpPr>
        <p:spPr>
          <a:xfrm>
            <a:off x="2714625" y="3005286"/>
            <a:ext cx="428625" cy="428625"/>
          </a:xfrm>
          <a:prstGeom prst="rect">
            <a:avLst/>
          </a:prstGeom>
          <a:solidFill>
            <a:srgbClr val="10B981"/>
          </a:solidFill>
          <a:ln/>
        </p:spPr>
      </p:sp>
      <p:pic>
        <p:nvPicPr>
          <p:cNvPr id="14" name="Image 3" descr="preencoded.png"/>
          <p:cNvPicPr>
            <a:picLocks noChangeAspect="1"/>
          </p:cNvPicPr>
          <p:nvPr/>
        </p:nvPicPr>
        <p:blipFill>
          <a:blip r:embed="rId6"/>
          <a:stretch>
            <a:fillRect/>
          </a:stretch>
        </p:blipFill>
        <p:spPr>
          <a:xfrm>
            <a:off x="2875359" y="3133874"/>
            <a:ext cx="107156" cy="171450"/>
          </a:xfrm>
          <a:prstGeom prst="rect">
            <a:avLst/>
          </a:prstGeom>
        </p:spPr>
      </p:pic>
      <p:sp>
        <p:nvSpPr>
          <p:cNvPr id="15" name="Text 9"/>
          <p:cNvSpPr/>
          <p:nvPr/>
        </p:nvSpPr>
        <p:spPr>
          <a:xfrm>
            <a:off x="3286125" y="3176736"/>
            <a:ext cx="1457258"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Variabilità del Mercato</a:t>
            </a:r>
            <a:endParaRPr lang="en-US" sz="1200" dirty="0"/>
          </a:p>
        </p:txBody>
      </p:sp>
      <p:sp>
        <p:nvSpPr>
          <p:cNvPr id="16" name="Text 10"/>
          <p:cNvSpPr/>
          <p:nvPr/>
        </p:nvSpPr>
        <p:spPr>
          <a:xfrm>
            <a:off x="3286125" y="3539282"/>
            <a:ext cx="5429250" cy="41143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475569"/>
                </a:solidFill>
              </a:rPr>
              <a:t>I prezzi variano da poche centinaia a decine di migliaia di dollari. La distribuzione mostra una </a:t>
            </a:r>
            <a:r>
              <a:rPr lang="en-US" sz="1100" b="1" dirty="0">
                <a:solidFill>
                  <a:srgbClr val="10B981"/>
                </a:solidFill>
              </a:rPr>
              <a:t>asimmetria positiva</a:t>
            </a:r>
            <a:r>
              <a:rPr lang="en-US" sz="1100" dirty="0">
                <a:solidFill>
                  <a:srgbClr val="475569"/>
                </a:solidFill>
              </a:rPr>
              <a:t>, tipica dei beni di lusso.</a:t>
            </a:r>
            <a:endParaRPr lang="en-US" sz="1100" dirty="0"/>
          </a:p>
        </p:txBody>
      </p:sp>
    </p:spTree>
    <p:extLst>
      <p:ext uri="{BB962C8B-B14F-4D97-AF65-F5344CB8AC3E}">
        <p14:creationId xmlns:p14="http://schemas.microsoft.com/office/powerpoint/2010/main" val="3204852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8127"/>
            <a:ext cx="9144000" cy="5143500"/>
          </a:xfrm>
          <a:prstGeom prst="rect">
            <a:avLst/>
          </a:prstGeom>
        </p:spPr>
      </p:pic>
      <p:sp>
        <p:nvSpPr>
          <p:cNvPr id="3" name="Shape 0"/>
          <p:cNvSpPr/>
          <p:nvPr/>
        </p:nvSpPr>
        <p:spPr>
          <a:xfrm>
            <a:off x="0" y="0"/>
            <a:ext cx="2286000" cy="5143500"/>
          </a:xfrm>
          <a:prstGeom prst="rect">
            <a:avLst/>
          </a:prstGeom>
          <a:solidFill>
            <a:srgbClr val="0F172A"/>
          </a:solidFill>
          <a:ln/>
        </p:spPr>
      </p:sp>
      <p:sp>
        <p:nvSpPr>
          <p:cNvPr id="4" name="Text 1"/>
          <p:cNvSpPr/>
          <p:nvPr/>
        </p:nvSpPr>
        <p:spPr>
          <a:xfrm>
            <a:off x="285750" y="618353"/>
            <a:ext cx="171450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FFFFF"/>
                </a:solidFill>
              </a:rPr>
              <a:t>Caratteristiche Gemmologiche</a:t>
            </a:r>
            <a:endParaRPr lang="en-US" sz="1602" dirty="0"/>
          </a:p>
        </p:txBody>
      </p:sp>
      <p:sp>
        <p:nvSpPr>
          <p:cNvPr id="5" name="Shape 2"/>
          <p:cNvSpPr/>
          <p:nvPr/>
        </p:nvSpPr>
        <p:spPr>
          <a:xfrm>
            <a:off x="2714625" y="285750"/>
            <a:ext cx="428625" cy="428625"/>
          </a:xfrm>
          <a:prstGeom prst="rect">
            <a:avLst/>
          </a:prstGeom>
          <a:solidFill>
            <a:srgbClr val="10B981"/>
          </a:solidFill>
          <a:ln/>
        </p:spPr>
      </p:sp>
      <p:pic>
        <p:nvPicPr>
          <p:cNvPr id="6" name="Image 1" descr="preencoded.png"/>
          <p:cNvPicPr>
            <a:picLocks noChangeAspect="1"/>
          </p:cNvPicPr>
          <p:nvPr/>
        </p:nvPicPr>
        <p:blipFill>
          <a:blip r:embed="rId4"/>
          <a:stretch>
            <a:fillRect/>
          </a:stretch>
        </p:blipFill>
        <p:spPr>
          <a:xfrm>
            <a:off x="2843213" y="414338"/>
            <a:ext cx="171450" cy="171450"/>
          </a:xfrm>
          <a:prstGeom prst="rect">
            <a:avLst/>
          </a:prstGeom>
        </p:spPr>
      </p:pic>
      <p:sp>
        <p:nvSpPr>
          <p:cNvPr id="7" name="Text 3"/>
          <p:cNvSpPr/>
          <p:nvPr/>
        </p:nvSpPr>
        <p:spPr>
          <a:xfrm>
            <a:off x="3286125" y="464075"/>
            <a:ext cx="1229439"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Le 4C del Diamante</a:t>
            </a:r>
            <a:endParaRPr lang="en-US" sz="1200" dirty="0"/>
          </a:p>
        </p:txBody>
      </p:sp>
      <p:sp>
        <p:nvSpPr>
          <p:cNvPr id="8" name="Text 4"/>
          <p:cNvSpPr/>
          <p:nvPr/>
        </p:nvSpPr>
        <p:spPr>
          <a:xfrm>
            <a:off x="3286125" y="819745"/>
            <a:ext cx="5429250" cy="41143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475569"/>
                </a:solidFill>
              </a:rPr>
              <a:t>Il valore è determinato da </a:t>
            </a:r>
            <a:r>
              <a:rPr lang="en-US" sz="1100" b="1" dirty="0">
                <a:solidFill>
                  <a:srgbClr val="10B981"/>
                </a:solidFill>
              </a:rPr>
              <a:t>Carat</a:t>
            </a:r>
            <a:r>
              <a:rPr lang="en-US" sz="1100" dirty="0">
                <a:solidFill>
                  <a:srgbClr val="475569"/>
                </a:solidFill>
              </a:rPr>
              <a:t> (Peso), </a:t>
            </a:r>
            <a:r>
              <a:rPr lang="en-US" sz="1100" b="1" dirty="0">
                <a:solidFill>
                  <a:srgbClr val="10B981"/>
                </a:solidFill>
              </a:rPr>
              <a:t>Cut</a:t>
            </a:r>
            <a:r>
              <a:rPr lang="en-US" sz="1100" dirty="0">
                <a:solidFill>
                  <a:srgbClr val="475569"/>
                </a:solidFill>
              </a:rPr>
              <a:t> (Taglio), </a:t>
            </a:r>
            <a:r>
              <a:rPr lang="en-US" sz="1100" b="1" dirty="0">
                <a:solidFill>
                  <a:srgbClr val="10B981"/>
                </a:solidFill>
              </a:rPr>
              <a:t>Color</a:t>
            </a:r>
            <a:r>
              <a:rPr lang="en-US" sz="1100" dirty="0">
                <a:solidFill>
                  <a:srgbClr val="475569"/>
                </a:solidFill>
              </a:rPr>
              <a:t> (Colore) e </a:t>
            </a:r>
            <a:r>
              <a:rPr lang="en-US" sz="1100" b="1" dirty="0">
                <a:solidFill>
                  <a:srgbClr val="10B981"/>
                </a:solidFill>
              </a:rPr>
              <a:t>Clarity</a:t>
            </a:r>
            <a:r>
              <a:rPr lang="en-US" sz="1100" dirty="0">
                <a:solidFill>
                  <a:srgbClr val="475569"/>
                </a:solidFill>
              </a:rPr>
              <a:t> (Purezza). Il peso in carati è la variabile più influente con crescita esponenziale del prezzo.</a:t>
            </a:r>
            <a:endParaRPr lang="en-US" sz="1100" dirty="0"/>
          </a:p>
        </p:txBody>
      </p:sp>
      <p:sp>
        <p:nvSpPr>
          <p:cNvPr id="9" name="Shape 5"/>
          <p:cNvSpPr/>
          <p:nvPr/>
        </p:nvSpPr>
        <p:spPr>
          <a:xfrm>
            <a:off x="2714625" y="1645518"/>
            <a:ext cx="428625" cy="428625"/>
          </a:xfrm>
          <a:prstGeom prst="rect">
            <a:avLst/>
          </a:prstGeom>
          <a:solidFill>
            <a:srgbClr val="10B981"/>
          </a:solidFill>
          <a:ln/>
        </p:spPr>
      </p:sp>
      <p:pic>
        <p:nvPicPr>
          <p:cNvPr id="10" name="Image 2" descr="preencoded.png"/>
          <p:cNvPicPr>
            <a:picLocks noChangeAspect="1"/>
          </p:cNvPicPr>
          <p:nvPr/>
        </p:nvPicPr>
        <p:blipFill>
          <a:blip r:embed="rId5"/>
          <a:stretch>
            <a:fillRect/>
          </a:stretch>
        </p:blipFill>
        <p:spPr>
          <a:xfrm>
            <a:off x="2843213" y="1774106"/>
            <a:ext cx="171450" cy="171450"/>
          </a:xfrm>
          <a:prstGeom prst="rect">
            <a:avLst/>
          </a:prstGeom>
        </p:spPr>
      </p:pic>
      <p:sp>
        <p:nvSpPr>
          <p:cNvPr id="11" name="Text 6"/>
          <p:cNvSpPr/>
          <p:nvPr/>
        </p:nvSpPr>
        <p:spPr>
          <a:xfrm>
            <a:off x="3286125" y="1816968"/>
            <a:ext cx="1408784"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Standard GIA e Colore</a:t>
            </a:r>
            <a:endParaRPr lang="en-US" sz="1200" dirty="0"/>
          </a:p>
        </p:txBody>
      </p:sp>
      <p:sp>
        <p:nvSpPr>
          <p:cNvPr id="12" name="Text 7"/>
          <p:cNvSpPr/>
          <p:nvPr/>
        </p:nvSpPr>
        <p:spPr>
          <a:xfrm>
            <a:off x="3286125" y="2179513"/>
            <a:ext cx="5429250" cy="41143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475569"/>
                </a:solidFill>
              </a:rPr>
              <a:t>Le valutazioni seguono la scala del </a:t>
            </a:r>
            <a:r>
              <a:rPr lang="en-US" sz="1100" b="1" dirty="0">
                <a:solidFill>
                  <a:srgbClr val="10B981"/>
                </a:solidFill>
              </a:rPr>
              <a:t>Gemological Institute of America</a:t>
            </a:r>
            <a:r>
              <a:rPr lang="en-US" sz="1100" dirty="0">
                <a:solidFill>
                  <a:srgbClr val="475569"/>
                </a:solidFill>
              </a:rPr>
              <a:t>. I diamanti variano da </a:t>
            </a:r>
            <a:r>
              <a:rPr lang="en-US" sz="1100" b="1" dirty="0">
                <a:solidFill>
                  <a:srgbClr val="10B981"/>
                </a:solidFill>
              </a:rPr>
              <a:t>D</a:t>
            </a:r>
            <a:r>
              <a:rPr lang="en-US" sz="1100" dirty="0">
                <a:solidFill>
                  <a:srgbClr val="475569"/>
                </a:solidFill>
              </a:rPr>
              <a:t> (totalmente incolore e più prezioso) a </a:t>
            </a:r>
            <a:r>
              <a:rPr lang="en-US" sz="1100" b="1" dirty="0">
                <a:solidFill>
                  <a:srgbClr val="10B981"/>
                </a:solidFill>
              </a:rPr>
              <a:t>J</a:t>
            </a:r>
            <a:r>
              <a:rPr lang="en-US" sz="1100" dirty="0">
                <a:solidFill>
                  <a:srgbClr val="475569"/>
                </a:solidFill>
              </a:rPr>
              <a:t> (leggermente giallognolo).</a:t>
            </a:r>
            <a:endParaRPr lang="en-US" sz="1100" dirty="0"/>
          </a:p>
        </p:txBody>
      </p:sp>
      <p:sp>
        <p:nvSpPr>
          <p:cNvPr id="13" name="Shape 8"/>
          <p:cNvSpPr/>
          <p:nvPr/>
        </p:nvSpPr>
        <p:spPr>
          <a:xfrm>
            <a:off x="2714625" y="3005286"/>
            <a:ext cx="428625" cy="428625"/>
          </a:xfrm>
          <a:prstGeom prst="rect">
            <a:avLst/>
          </a:prstGeom>
          <a:solidFill>
            <a:srgbClr val="10B981"/>
          </a:solidFill>
          <a:ln/>
        </p:spPr>
      </p:sp>
      <p:pic>
        <p:nvPicPr>
          <p:cNvPr id="14" name="Image 3" descr="preencoded.png"/>
          <p:cNvPicPr>
            <a:picLocks noChangeAspect="1"/>
          </p:cNvPicPr>
          <p:nvPr/>
        </p:nvPicPr>
        <p:blipFill>
          <a:blip r:embed="rId6"/>
          <a:stretch>
            <a:fillRect/>
          </a:stretch>
        </p:blipFill>
        <p:spPr>
          <a:xfrm>
            <a:off x="2843213" y="3133874"/>
            <a:ext cx="171450" cy="171450"/>
          </a:xfrm>
          <a:prstGeom prst="rect">
            <a:avLst/>
          </a:prstGeom>
        </p:spPr>
      </p:pic>
      <p:sp>
        <p:nvSpPr>
          <p:cNvPr id="15" name="Text 9"/>
          <p:cNvSpPr/>
          <p:nvPr/>
        </p:nvSpPr>
        <p:spPr>
          <a:xfrm>
            <a:off x="3286125" y="3176736"/>
            <a:ext cx="1455591" cy="194540"/>
          </a:xfrm>
          <a:prstGeom prst="rect">
            <a:avLst/>
          </a:prstGeom>
          <a:noFill/>
          <a:ln/>
        </p:spPr>
        <p:txBody>
          <a:bodyPr wrap="none" lIns="0" tIns="0" rIns="0" bIns="0" rtlCol="0" anchor="t">
            <a:spAutoFit/>
          </a:bodyPr>
          <a:lstStyle/>
          <a:p>
            <a:pPr marL="0" indent="0" algn="l">
              <a:lnSpc>
                <a:spcPts val="1600"/>
              </a:lnSpc>
              <a:buNone/>
            </a:pPr>
            <a:r>
              <a:rPr lang="en-US" sz="1200" b="1" dirty="0">
                <a:solidFill>
                  <a:srgbClr val="0F172A"/>
                </a:solidFill>
              </a:rPr>
              <a:t>Certificazione e Report</a:t>
            </a:r>
            <a:endParaRPr lang="en-US" sz="1200" dirty="0"/>
          </a:p>
        </p:txBody>
      </p:sp>
      <p:sp>
        <p:nvSpPr>
          <p:cNvPr id="16" name="Text 10"/>
          <p:cNvSpPr/>
          <p:nvPr/>
        </p:nvSpPr>
        <p:spPr>
          <a:xfrm>
            <a:off x="3286125" y="3539282"/>
            <a:ext cx="5429250" cy="411435"/>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475569"/>
                </a:solidFill>
              </a:rPr>
              <a:t>L'ente certificatore (</a:t>
            </a:r>
            <a:r>
              <a:rPr lang="en-US" sz="885" b="1" dirty="0">
                <a:solidFill>
                  <a:srgbClr val="10B981"/>
                </a:solidFill>
              </a:rPr>
              <a:t>GIA, AGSL</a:t>
            </a:r>
            <a:r>
              <a:rPr lang="en-US" sz="942" dirty="0">
                <a:solidFill>
                  <a:srgbClr val="475569"/>
                </a:solidFill>
              </a:rPr>
              <a:t>) è un fattore di fiducia cruciale. Un certificato autorevole influenza direttamente la percezione del valore e la commerciabilità della pietra.</a:t>
            </a:r>
            <a:endParaRPr lang="en-US" sz="942" dirty="0"/>
          </a:p>
        </p:txBody>
      </p:sp>
    </p:spTree>
    <p:extLst>
      <p:ext uri="{BB962C8B-B14F-4D97-AF65-F5344CB8AC3E}">
        <p14:creationId xmlns:p14="http://schemas.microsoft.com/office/powerpoint/2010/main" val="2239955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1356699"/>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Analisi Esplorativa</a:t>
            </a:r>
            <a:endParaRPr lang="en-US" sz="1602" dirty="0"/>
          </a:p>
        </p:txBody>
      </p:sp>
      <p:sp>
        <p:nvSpPr>
          <p:cNvPr id="6" name="Text 2"/>
          <p:cNvSpPr/>
          <p:nvPr/>
        </p:nvSpPr>
        <p:spPr>
          <a:xfrm>
            <a:off x="2857500" y="138299"/>
            <a:ext cx="5857875" cy="754363"/>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334155"/>
                </a:solidFill>
              </a:rPr>
              <a:t>La distribuzione dei prezzi (Target) mostra una forte </a:t>
            </a:r>
            <a:r>
              <a:rPr lang="en-US" sz="1090" b="1" dirty="0">
                <a:solidFill>
                  <a:srgbClr val="334155"/>
                </a:solidFill>
              </a:rPr>
              <a:t>asimmetria positiva</a:t>
            </a:r>
            <a:r>
              <a:rPr lang="en-US" sz="1159" dirty="0">
                <a:solidFill>
                  <a:srgbClr val="334155"/>
                </a:solidFill>
              </a:rPr>
              <a:t> (right-skewed): la maggior parte dei diamanti si concentra nella fascia economica, con pochi esemplari di estremo lusso.</a:t>
            </a:r>
            <a:endParaRPr lang="en-US" sz="1159" dirty="0"/>
          </a:p>
        </p:txBody>
      </p:sp>
      <p:sp>
        <p:nvSpPr>
          <p:cNvPr id="7" name="Shape 3"/>
          <p:cNvSpPr/>
          <p:nvPr/>
        </p:nvSpPr>
        <p:spPr>
          <a:xfrm>
            <a:off x="2857500" y="988440"/>
            <a:ext cx="5857875" cy="750094"/>
          </a:xfrm>
          <a:prstGeom prst="rect">
            <a:avLst/>
          </a:prstGeom>
          <a:solidFill>
            <a:srgbClr val="10B981"/>
          </a:solidFill>
          <a:ln/>
        </p:spPr>
      </p:sp>
      <p:sp>
        <p:nvSpPr>
          <p:cNvPr id="8" name="Shape 4"/>
          <p:cNvSpPr/>
          <p:nvPr/>
        </p:nvSpPr>
        <p:spPr>
          <a:xfrm>
            <a:off x="2855118" y="980658"/>
            <a:ext cx="71438" cy="750094"/>
          </a:xfrm>
          <a:prstGeom prst="rect">
            <a:avLst/>
          </a:prstGeom>
          <a:solidFill>
            <a:srgbClr val="0F172A"/>
          </a:solidFill>
          <a:ln/>
        </p:spPr>
      </p:sp>
      <p:sp>
        <p:nvSpPr>
          <p:cNvPr id="9" name="Text 5"/>
          <p:cNvSpPr/>
          <p:nvPr/>
        </p:nvSpPr>
        <p:spPr>
          <a:xfrm>
            <a:off x="3071812" y="1240597"/>
            <a:ext cx="5500688" cy="307777"/>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FFFFFF"/>
                </a:solidFill>
              </a:rPr>
              <a:t>INSIGHT: L'elevata varianza ha reso necessaria una trasformazione logaritmica per normalizzare i dati e migliorare la convergenza del modello.</a:t>
            </a:r>
            <a:endParaRPr lang="en-US" sz="1100" dirty="0"/>
          </a:p>
        </p:txBody>
      </p:sp>
      <p:pic>
        <p:nvPicPr>
          <p:cNvPr id="10" name="Image 1" descr="preencoded.png"/>
          <p:cNvPicPr>
            <a:picLocks noChangeAspect="1"/>
          </p:cNvPicPr>
          <p:nvPr/>
        </p:nvPicPr>
        <p:blipFill>
          <a:blip r:embed="rId4"/>
          <a:stretch>
            <a:fillRect/>
          </a:stretch>
        </p:blipFill>
        <p:spPr>
          <a:xfrm>
            <a:off x="1910953" y="1818749"/>
            <a:ext cx="5541252" cy="332475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Scelta del Modello</a:t>
            </a:r>
            <a:endParaRPr lang="en-US" sz="1602" dirty="0"/>
          </a:p>
        </p:txBody>
      </p:sp>
      <p:sp>
        <p:nvSpPr>
          <p:cNvPr id="6" name="Shape 2"/>
          <p:cNvSpPr/>
          <p:nvPr/>
        </p:nvSpPr>
        <p:spPr>
          <a:xfrm>
            <a:off x="2857500" y="857250"/>
            <a:ext cx="571500" cy="571500"/>
          </a:xfrm>
          <a:prstGeom prst="rect">
            <a:avLst/>
          </a:prstGeom>
          <a:solidFill>
            <a:srgbClr val="10B981"/>
          </a:solidFill>
          <a:ln/>
        </p:spPr>
      </p:sp>
      <p:pic>
        <p:nvPicPr>
          <p:cNvPr id="7" name="Image 1" descr="preencoded.png"/>
          <p:cNvPicPr>
            <a:picLocks noChangeAspect="1"/>
          </p:cNvPicPr>
          <p:nvPr/>
        </p:nvPicPr>
        <p:blipFill>
          <a:blip r:embed="rId4"/>
          <a:stretch>
            <a:fillRect/>
          </a:stretch>
        </p:blipFill>
        <p:spPr>
          <a:xfrm>
            <a:off x="3000375" y="1028700"/>
            <a:ext cx="285750" cy="228600"/>
          </a:xfrm>
          <a:prstGeom prst="rect">
            <a:avLst/>
          </a:prstGeom>
        </p:spPr>
      </p:pic>
      <p:sp>
        <p:nvSpPr>
          <p:cNvPr id="8" name="Text 3"/>
          <p:cNvSpPr/>
          <p:nvPr/>
        </p:nvSpPr>
        <p:spPr>
          <a:xfrm>
            <a:off x="3643313" y="857250"/>
            <a:ext cx="5072063"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F172A"/>
                </a:solidFill>
              </a:rPr>
              <a:t>Gestione della Non-Linearità</a:t>
            </a:r>
            <a:endParaRPr lang="en-US" sz="1602" dirty="0"/>
          </a:p>
        </p:txBody>
      </p:sp>
      <p:sp>
        <p:nvSpPr>
          <p:cNvPr id="9" name="Text 4"/>
          <p:cNvSpPr/>
          <p:nvPr/>
        </p:nvSpPr>
        <p:spPr>
          <a:xfrm>
            <a:off x="3643313" y="1276945"/>
            <a:ext cx="5072063" cy="754363"/>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334155"/>
                </a:solidFill>
              </a:rPr>
              <a:t>Il prezzo dei diamanti non cresce linearmente rispetto al peso. Gli alberi di decisione catturano le relazioni esponenziali e i "salti di prezzo" tipici delle gemme rare.</a:t>
            </a:r>
            <a:endParaRPr lang="en-US" sz="1159" dirty="0"/>
          </a:p>
        </p:txBody>
      </p:sp>
      <p:sp>
        <p:nvSpPr>
          <p:cNvPr id="10" name="Shape 5"/>
          <p:cNvSpPr/>
          <p:nvPr/>
        </p:nvSpPr>
        <p:spPr>
          <a:xfrm>
            <a:off x="3643313" y="2259909"/>
            <a:ext cx="1470022" cy="191095"/>
          </a:xfrm>
          <a:prstGeom prst="rect">
            <a:avLst/>
          </a:prstGeom>
          <a:solidFill>
            <a:srgbClr val="334155"/>
          </a:solidFill>
          <a:ln/>
        </p:spPr>
      </p:sp>
      <p:sp>
        <p:nvSpPr>
          <p:cNvPr id="11" name="Text 6"/>
          <p:cNvSpPr/>
          <p:nvPr/>
        </p:nvSpPr>
        <p:spPr>
          <a:xfrm>
            <a:off x="3643313" y="2259909"/>
            <a:ext cx="1470022" cy="191095"/>
          </a:xfrm>
          <a:prstGeom prst="rect">
            <a:avLst/>
          </a:prstGeom>
          <a:noFill/>
          <a:ln/>
        </p:spPr>
        <p:txBody>
          <a:bodyPr wrap="none" lIns="85090" tIns="42545" rIns="85090" bIns="0" rtlCol="0" anchor="t">
            <a:spAutoFit/>
          </a:bodyPr>
          <a:lstStyle/>
          <a:p>
            <a:pPr marL="0" indent="0" algn="l">
              <a:lnSpc>
                <a:spcPts val="1100"/>
              </a:lnSpc>
              <a:buNone/>
            </a:pPr>
            <a:r>
              <a:rPr lang="en-US" sz="834" dirty="0">
                <a:solidFill>
                  <a:srgbClr val="10B981"/>
                </a:solidFill>
              </a:rPr>
              <a:t>RandomForestRegressor</a:t>
            </a:r>
            <a:endParaRPr lang="en-US" sz="834" dirty="0"/>
          </a:p>
        </p:txBody>
      </p:sp>
      <p:sp>
        <p:nvSpPr>
          <p:cNvPr id="12" name="Shape 7"/>
          <p:cNvSpPr/>
          <p:nvPr/>
        </p:nvSpPr>
        <p:spPr>
          <a:xfrm>
            <a:off x="2857500" y="2736754"/>
            <a:ext cx="571500" cy="571500"/>
          </a:xfrm>
          <a:prstGeom prst="rect">
            <a:avLst/>
          </a:prstGeom>
          <a:solidFill>
            <a:srgbClr val="10B981"/>
          </a:solidFill>
          <a:ln/>
        </p:spPr>
      </p:sp>
      <p:pic>
        <p:nvPicPr>
          <p:cNvPr id="13" name="Image 2" descr="preencoded.png"/>
          <p:cNvPicPr>
            <a:picLocks noChangeAspect="1"/>
          </p:cNvPicPr>
          <p:nvPr/>
        </p:nvPicPr>
        <p:blipFill>
          <a:blip r:embed="rId5"/>
          <a:stretch>
            <a:fillRect/>
          </a:stretch>
        </p:blipFill>
        <p:spPr>
          <a:xfrm>
            <a:off x="3028950" y="2908204"/>
            <a:ext cx="228600" cy="228600"/>
          </a:xfrm>
          <a:prstGeom prst="rect">
            <a:avLst/>
          </a:prstGeom>
        </p:spPr>
      </p:pic>
      <p:sp>
        <p:nvSpPr>
          <p:cNvPr id="14" name="Text 8"/>
          <p:cNvSpPr/>
          <p:nvPr/>
        </p:nvSpPr>
        <p:spPr>
          <a:xfrm>
            <a:off x="3643313" y="2736754"/>
            <a:ext cx="5072063" cy="31253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F172A"/>
                </a:solidFill>
              </a:rPr>
              <a:t>Robustezza ed Ensemble</a:t>
            </a:r>
            <a:endParaRPr lang="en-US" sz="1602" dirty="0"/>
          </a:p>
        </p:txBody>
      </p:sp>
      <p:sp>
        <p:nvSpPr>
          <p:cNvPr id="15" name="Text 9"/>
          <p:cNvSpPr/>
          <p:nvPr/>
        </p:nvSpPr>
        <p:spPr>
          <a:xfrm>
            <a:off x="3643313" y="3156449"/>
            <a:ext cx="5072063" cy="754363"/>
          </a:xfrm>
          <a:prstGeom prst="rect">
            <a:avLst/>
          </a:prstGeom>
          <a:noFill/>
          <a:ln/>
        </p:spPr>
        <p:txBody>
          <a:bodyPr wrap="square" lIns="0" tIns="0" rIns="0" bIns="0" rtlCol="0" anchor="t">
            <a:spAutoFit/>
          </a:bodyPr>
          <a:lstStyle/>
          <a:p>
            <a:pPr marL="0" indent="0" algn="l">
              <a:lnSpc>
                <a:spcPts val="2000"/>
              </a:lnSpc>
              <a:buNone/>
            </a:pPr>
            <a:r>
              <a:rPr lang="en-US" sz="1159" dirty="0">
                <a:solidFill>
                  <a:srgbClr val="334155"/>
                </a:solidFill>
              </a:rPr>
              <a:t>Essendo un modello basato su una foresta di 100 alberi, è meno sensibile agli outlier estremi e riduce il rischio di overfitting rispetto a un singolo albero di decisione.</a:t>
            </a:r>
            <a:endParaRPr lang="en-US" sz="1159" dirty="0"/>
          </a:p>
        </p:txBody>
      </p:sp>
      <p:sp>
        <p:nvSpPr>
          <p:cNvPr id="16" name="Shape 10"/>
          <p:cNvSpPr/>
          <p:nvPr/>
        </p:nvSpPr>
        <p:spPr>
          <a:xfrm>
            <a:off x="3643313" y="4139412"/>
            <a:ext cx="1099133" cy="191095"/>
          </a:xfrm>
          <a:prstGeom prst="rect">
            <a:avLst/>
          </a:prstGeom>
          <a:solidFill>
            <a:srgbClr val="334155"/>
          </a:solidFill>
          <a:ln/>
        </p:spPr>
      </p:sp>
      <p:sp>
        <p:nvSpPr>
          <p:cNvPr id="17" name="Text 11"/>
          <p:cNvSpPr/>
          <p:nvPr/>
        </p:nvSpPr>
        <p:spPr>
          <a:xfrm>
            <a:off x="3643313" y="4139412"/>
            <a:ext cx="1099133" cy="191095"/>
          </a:xfrm>
          <a:prstGeom prst="rect">
            <a:avLst/>
          </a:prstGeom>
          <a:noFill/>
          <a:ln/>
        </p:spPr>
        <p:txBody>
          <a:bodyPr wrap="none" lIns="85090" tIns="42545" rIns="85090" bIns="0" rtlCol="0" anchor="t">
            <a:spAutoFit/>
          </a:bodyPr>
          <a:lstStyle/>
          <a:p>
            <a:pPr marL="0" indent="0" algn="l">
              <a:lnSpc>
                <a:spcPts val="1100"/>
              </a:lnSpc>
              <a:buNone/>
            </a:pPr>
            <a:r>
              <a:rPr lang="en-US" sz="834" dirty="0">
                <a:solidFill>
                  <a:srgbClr val="10B981"/>
                </a:solidFill>
              </a:rPr>
              <a:t>n_estimators=100</a:t>
            </a:r>
            <a:endParaRPr lang="en-US" sz="834"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Preprocessing dei Dati</a:t>
            </a:r>
            <a:endParaRPr lang="en-US" sz="1602" dirty="0"/>
          </a:p>
        </p:txBody>
      </p:sp>
      <p:sp>
        <p:nvSpPr>
          <p:cNvPr id="6" name="Text 2"/>
          <p:cNvSpPr/>
          <p:nvPr/>
        </p:nvSpPr>
        <p:spPr>
          <a:xfrm>
            <a:off x="2857500" y="642938"/>
            <a:ext cx="1947008" cy="205184"/>
          </a:xfrm>
          <a:prstGeom prst="rect">
            <a:avLst/>
          </a:prstGeom>
          <a:noFill/>
          <a:ln/>
        </p:spPr>
        <p:txBody>
          <a:bodyPr wrap="none" lIns="127508" tIns="0" rIns="0" bIns="0" rtlCol="0" anchor="t">
            <a:spAutoFit/>
          </a:bodyPr>
          <a:lstStyle/>
          <a:p>
            <a:pPr marL="0" indent="0" algn="l">
              <a:lnSpc>
                <a:spcPts val="1600"/>
              </a:lnSpc>
              <a:buNone/>
            </a:pPr>
            <a:r>
              <a:rPr lang="en-US" sz="1400" b="1" dirty="0">
                <a:solidFill>
                  <a:srgbClr val="0F172A"/>
                </a:solidFill>
              </a:rPr>
              <a:t>Gestione delle Categorie</a:t>
            </a:r>
            <a:endParaRPr lang="en-US" sz="1400" dirty="0"/>
          </a:p>
        </p:txBody>
      </p:sp>
      <p:sp>
        <p:nvSpPr>
          <p:cNvPr id="7" name="Shape 3"/>
          <p:cNvSpPr/>
          <p:nvPr/>
        </p:nvSpPr>
        <p:spPr>
          <a:xfrm>
            <a:off x="2857500" y="1048345"/>
            <a:ext cx="2857500" cy="1428750"/>
          </a:xfrm>
          <a:prstGeom prst="rect">
            <a:avLst/>
          </a:prstGeom>
          <a:solidFill>
            <a:srgbClr val="334155"/>
          </a:solidFill>
          <a:ln/>
        </p:spPr>
      </p:sp>
      <p:sp>
        <p:nvSpPr>
          <p:cNvPr id="8" name="Text 4"/>
          <p:cNvSpPr/>
          <p:nvPr/>
        </p:nvSpPr>
        <p:spPr>
          <a:xfrm>
            <a:off x="3000375" y="1191220"/>
            <a:ext cx="1095428"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0B981"/>
                </a:solidFill>
              </a:rPr>
              <a:t>Ordinal Encoding</a:t>
            </a:r>
            <a:endParaRPr lang="en-US" sz="1200" dirty="0"/>
          </a:p>
        </p:txBody>
      </p:sp>
      <p:sp>
        <p:nvSpPr>
          <p:cNvPr id="9" name="Text 5"/>
          <p:cNvSpPr/>
          <p:nvPr/>
        </p:nvSpPr>
        <p:spPr>
          <a:xfrm>
            <a:off x="3000375" y="1437680"/>
            <a:ext cx="2571750" cy="666849"/>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FFFFFF"/>
                </a:solidFill>
              </a:rPr>
              <a:t>Applicato a </a:t>
            </a:r>
            <a:r>
              <a:rPr lang="en-US" sz="1100" b="1" dirty="0">
                <a:solidFill>
                  <a:srgbClr val="FFFFFF"/>
                </a:solidFill>
              </a:rPr>
              <a:t>Cut, Color, Clarity</a:t>
            </a:r>
            <a:r>
              <a:rPr lang="en-US" sz="1100" dirty="0">
                <a:solidFill>
                  <a:srgbClr val="FFFFFF"/>
                </a:solidFill>
              </a:rPr>
              <a:t>. Preserva la gerarchia qualitativa definendo manualmente l'ordine delle categorie per riflettere il valore reale.</a:t>
            </a:r>
            <a:endParaRPr lang="en-US" sz="1100" dirty="0"/>
          </a:p>
        </p:txBody>
      </p:sp>
      <p:sp>
        <p:nvSpPr>
          <p:cNvPr id="10" name="Shape 6"/>
          <p:cNvSpPr/>
          <p:nvPr/>
        </p:nvSpPr>
        <p:spPr>
          <a:xfrm>
            <a:off x="5857875" y="1048345"/>
            <a:ext cx="2857500" cy="1428750"/>
          </a:xfrm>
          <a:prstGeom prst="rect">
            <a:avLst/>
          </a:prstGeom>
          <a:solidFill>
            <a:srgbClr val="334155"/>
          </a:solidFill>
          <a:ln/>
        </p:spPr>
      </p:sp>
      <p:sp>
        <p:nvSpPr>
          <p:cNvPr id="11" name="Text 7"/>
          <p:cNvSpPr/>
          <p:nvPr/>
        </p:nvSpPr>
        <p:spPr>
          <a:xfrm>
            <a:off x="6000750" y="1191220"/>
            <a:ext cx="1164614" cy="156068"/>
          </a:xfrm>
          <a:prstGeom prst="rect">
            <a:avLst/>
          </a:prstGeom>
          <a:noFill/>
          <a:ln/>
        </p:spPr>
        <p:txBody>
          <a:bodyPr wrap="none" lIns="0" tIns="0" rIns="0" bIns="0" rtlCol="0" anchor="t">
            <a:spAutoFit/>
          </a:bodyPr>
          <a:lstStyle/>
          <a:p>
            <a:pPr marL="0" indent="0" algn="l">
              <a:lnSpc>
                <a:spcPts val="1200"/>
              </a:lnSpc>
              <a:buNone/>
            </a:pPr>
            <a:r>
              <a:rPr lang="en-US" sz="1200" b="1" dirty="0">
                <a:solidFill>
                  <a:srgbClr val="10B981"/>
                </a:solidFill>
              </a:rPr>
              <a:t>One-Hot Encoding</a:t>
            </a:r>
            <a:endParaRPr lang="en-US" sz="1200" dirty="0"/>
          </a:p>
        </p:txBody>
      </p:sp>
      <p:sp>
        <p:nvSpPr>
          <p:cNvPr id="12" name="Text 8"/>
          <p:cNvSpPr/>
          <p:nvPr/>
        </p:nvSpPr>
        <p:spPr>
          <a:xfrm>
            <a:off x="6000750" y="1437680"/>
            <a:ext cx="2571750" cy="666849"/>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FFFFFF"/>
                </a:solidFill>
              </a:rPr>
              <a:t>Applicato a </a:t>
            </a:r>
            <a:r>
              <a:rPr lang="en-US" sz="1100" b="1" dirty="0">
                <a:solidFill>
                  <a:srgbClr val="FFFFFF"/>
                </a:solidFill>
              </a:rPr>
              <a:t>Polish, Symmetry, Report</a:t>
            </a:r>
            <a:r>
              <a:rPr lang="en-US" sz="1100" dirty="0">
                <a:solidFill>
                  <a:srgbClr val="FFFFFF"/>
                </a:solidFill>
              </a:rPr>
              <a:t>. Trasforma le variabili nominali in vettori binari, evitando di imporre una gerarchia inesistente.</a:t>
            </a:r>
            <a:endParaRPr lang="en-US" sz="1100" dirty="0"/>
          </a:p>
        </p:txBody>
      </p:sp>
      <p:sp>
        <p:nvSpPr>
          <p:cNvPr id="13" name="Shape 9"/>
          <p:cNvSpPr/>
          <p:nvPr/>
        </p:nvSpPr>
        <p:spPr>
          <a:xfrm>
            <a:off x="2857500" y="2762845"/>
            <a:ext cx="5857875" cy="798314"/>
          </a:xfrm>
          <a:prstGeom prst="rect">
            <a:avLst/>
          </a:prstGeom>
          <a:solidFill>
            <a:srgbClr val="10B981"/>
          </a:solidFill>
          <a:ln/>
        </p:spPr>
      </p:sp>
      <p:pic>
        <p:nvPicPr>
          <p:cNvPr id="14" name="Image 1" descr="preencoded.png"/>
          <p:cNvPicPr>
            <a:picLocks noChangeAspect="1"/>
          </p:cNvPicPr>
          <p:nvPr/>
        </p:nvPicPr>
        <p:blipFill>
          <a:blip r:embed="rId4"/>
          <a:stretch>
            <a:fillRect/>
          </a:stretch>
        </p:blipFill>
        <p:spPr>
          <a:xfrm>
            <a:off x="3071813" y="3121819"/>
            <a:ext cx="285750" cy="228600"/>
          </a:xfrm>
          <a:prstGeom prst="rect">
            <a:avLst/>
          </a:prstGeom>
        </p:spPr>
      </p:pic>
      <p:sp>
        <p:nvSpPr>
          <p:cNvPr id="15" name="Text 10"/>
          <p:cNvSpPr/>
          <p:nvPr/>
        </p:nvSpPr>
        <p:spPr>
          <a:xfrm>
            <a:off x="3500438" y="2905720"/>
            <a:ext cx="1186222" cy="171907"/>
          </a:xfrm>
          <a:prstGeom prst="rect">
            <a:avLst/>
          </a:prstGeom>
          <a:noFill/>
          <a:ln/>
        </p:spPr>
        <p:txBody>
          <a:bodyPr wrap="none" lIns="0" tIns="0" rIns="0" bIns="0" rtlCol="0" anchor="t">
            <a:spAutoFit/>
          </a:bodyPr>
          <a:lstStyle/>
          <a:p>
            <a:pPr marL="0" indent="0" algn="l">
              <a:lnSpc>
                <a:spcPts val="1400"/>
              </a:lnSpc>
              <a:buNone/>
            </a:pPr>
            <a:r>
              <a:rPr lang="en-US" sz="1100" b="1" dirty="0">
                <a:solidFill>
                  <a:srgbClr val="FFFFFF"/>
                </a:solidFill>
              </a:rPr>
              <a:t>Scikit-Learn Pipeline</a:t>
            </a:r>
            <a:endParaRPr lang="en-US" sz="1100" dirty="0"/>
          </a:p>
        </p:txBody>
      </p:sp>
      <p:sp>
        <p:nvSpPr>
          <p:cNvPr id="16" name="Text 11"/>
          <p:cNvSpPr/>
          <p:nvPr/>
        </p:nvSpPr>
        <p:spPr>
          <a:xfrm>
            <a:off x="3500438" y="3136106"/>
            <a:ext cx="5000625" cy="284117"/>
          </a:xfrm>
          <a:prstGeom prst="rect">
            <a:avLst/>
          </a:prstGeom>
          <a:noFill/>
          <a:ln/>
        </p:spPr>
        <p:txBody>
          <a:bodyPr wrap="square" lIns="0" tIns="0" rIns="0" bIns="0" rtlCol="0" anchor="t">
            <a:spAutoFit/>
          </a:bodyPr>
          <a:lstStyle/>
          <a:p>
            <a:pPr marL="0" indent="0" algn="l">
              <a:lnSpc>
                <a:spcPts val="1100"/>
              </a:lnSpc>
              <a:buNone/>
            </a:pPr>
            <a:r>
              <a:rPr lang="en-US" sz="1100" dirty="0">
                <a:solidFill>
                  <a:srgbClr val="FFFFFF"/>
                </a:solidFill>
              </a:rPr>
              <a:t>Tutto il flusso di lavoro è incapsulato in una pipeline per garantire la riproducibilità e prevenire il </a:t>
            </a:r>
            <a:r>
              <a:rPr lang="en-US" sz="1100" b="1" dirty="0">
                <a:solidFill>
                  <a:srgbClr val="FFFFFF"/>
                </a:solidFill>
              </a:rPr>
              <a:t>Data Leakage</a:t>
            </a:r>
            <a:r>
              <a:rPr lang="en-US" sz="1100" dirty="0">
                <a:solidFill>
                  <a:srgbClr val="FFFFFF"/>
                </a:solidFill>
              </a:rPr>
              <a:t> tra set di addestramento e test.</a:t>
            </a:r>
            <a:endParaRPr lang="en-US" sz="11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0" y="618353"/>
            <a:ext cx="2571750" cy="282129"/>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Gestione della Non-Linearità</a:t>
            </a:r>
            <a:endParaRPr lang="en-US" sz="1602" dirty="0"/>
          </a:p>
        </p:txBody>
      </p:sp>
      <p:sp>
        <p:nvSpPr>
          <p:cNvPr id="6" name="Text 2"/>
          <p:cNvSpPr/>
          <p:nvPr/>
        </p:nvSpPr>
        <p:spPr>
          <a:xfrm>
            <a:off x="2857500" y="642938"/>
            <a:ext cx="5857875" cy="273248"/>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0F172A"/>
                </a:solidFill>
              </a:rPr>
              <a:t>Trasformazione Logaritmica</a:t>
            </a:r>
            <a:endParaRPr lang="en-US" sz="1397" dirty="0"/>
          </a:p>
        </p:txBody>
      </p:sp>
      <p:sp>
        <p:nvSpPr>
          <p:cNvPr id="7" name="Text 3"/>
          <p:cNvSpPr/>
          <p:nvPr/>
        </p:nvSpPr>
        <p:spPr>
          <a:xfrm>
            <a:off x="2857500" y="1116211"/>
            <a:ext cx="5857875" cy="351443"/>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334155"/>
                </a:solidFill>
              </a:rPr>
              <a:t>Il prezzo dei diamanti cresce in modo </a:t>
            </a:r>
            <a:r>
              <a:rPr lang="en-US" sz="1100" b="1" dirty="0">
                <a:solidFill>
                  <a:srgbClr val="10B981"/>
                </a:solidFill>
              </a:rPr>
              <a:t>esponenziale</a:t>
            </a:r>
            <a:r>
              <a:rPr lang="en-US" sz="1100" dirty="0">
                <a:solidFill>
                  <a:srgbClr val="334155"/>
                </a:solidFill>
              </a:rPr>
              <a:t> rispetto al peso. La trasformazione logaritmica normalizza questa relazione.</a:t>
            </a:r>
            <a:endParaRPr lang="en-US" sz="1100" dirty="0"/>
          </a:p>
        </p:txBody>
      </p:sp>
      <p:sp>
        <p:nvSpPr>
          <p:cNvPr id="8" name="Shape 4"/>
          <p:cNvSpPr/>
          <p:nvPr/>
        </p:nvSpPr>
        <p:spPr>
          <a:xfrm>
            <a:off x="2857500" y="1648420"/>
            <a:ext cx="5857875" cy="714375"/>
          </a:xfrm>
          <a:prstGeom prst="rect">
            <a:avLst/>
          </a:prstGeom>
          <a:solidFill>
            <a:srgbClr val="334155"/>
          </a:solidFill>
          <a:ln/>
        </p:spPr>
      </p:sp>
      <p:sp>
        <p:nvSpPr>
          <p:cNvPr id="9" name="Text 5"/>
          <p:cNvSpPr/>
          <p:nvPr/>
        </p:nvSpPr>
        <p:spPr>
          <a:xfrm>
            <a:off x="2857500" y="1648420"/>
            <a:ext cx="5857875" cy="356636"/>
          </a:xfrm>
          <a:prstGeom prst="rect">
            <a:avLst/>
          </a:prstGeom>
          <a:noFill/>
          <a:ln/>
        </p:spPr>
        <p:txBody>
          <a:bodyPr wrap="square" lIns="255143" tIns="170053" rIns="0" bIns="0" rtlCol="0" anchor="t">
            <a:spAutoFit/>
          </a:bodyPr>
          <a:lstStyle/>
          <a:p>
            <a:pPr marL="0" indent="0" algn="l">
              <a:lnSpc>
                <a:spcPts val="1500"/>
              </a:lnSpc>
              <a:buNone/>
            </a:pPr>
            <a:r>
              <a:rPr lang="en-US" sz="1200" dirty="0">
                <a:solidFill>
                  <a:srgbClr val="10B981"/>
                </a:solidFill>
              </a:rPr>
              <a:t>y_transformed = log(1 + Price)</a:t>
            </a:r>
            <a:endParaRPr lang="en-US" sz="1200" dirty="0"/>
          </a:p>
        </p:txBody>
      </p:sp>
      <p:pic>
        <p:nvPicPr>
          <p:cNvPr id="10" name="Image 1" descr="preencoded.png"/>
          <p:cNvPicPr>
            <a:picLocks noChangeAspect="1"/>
          </p:cNvPicPr>
          <p:nvPr/>
        </p:nvPicPr>
        <p:blipFill>
          <a:blip r:embed="rId4"/>
          <a:stretch>
            <a:fillRect/>
          </a:stretch>
        </p:blipFill>
        <p:spPr>
          <a:xfrm>
            <a:off x="2857500" y="2677120"/>
            <a:ext cx="196453" cy="157163"/>
          </a:xfrm>
          <a:prstGeom prst="rect">
            <a:avLst/>
          </a:prstGeom>
        </p:spPr>
      </p:pic>
      <p:sp>
        <p:nvSpPr>
          <p:cNvPr id="11" name="Text 6"/>
          <p:cNvSpPr/>
          <p:nvPr/>
        </p:nvSpPr>
        <p:spPr>
          <a:xfrm>
            <a:off x="3161109" y="2648545"/>
            <a:ext cx="1515479" cy="184922"/>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10B981"/>
                </a:solidFill>
              </a:rPr>
              <a:t>Stabilizzazione Varianza</a:t>
            </a:r>
            <a:endParaRPr lang="en-US" sz="1200" dirty="0"/>
          </a:p>
        </p:txBody>
      </p:sp>
      <p:sp>
        <p:nvSpPr>
          <p:cNvPr id="12" name="Text 7"/>
          <p:cNvSpPr/>
          <p:nvPr/>
        </p:nvSpPr>
        <p:spPr>
          <a:xfrm>
            <a:off x="2857500" y="2934295"/>
            <a:ext cx="2636044" cy="578644"/>
          </a:xfrm>
          <a:prstGeom prst="rect">
            <a:avLst/>
          </a:prstGeom>
          <a:noFill/>
          <a:ln/>
        </p:spPr>
        <p:txBody>
          <a:bodyPr wrap="square" lIns="0" tIns="0" rIns="0" bIns="0" rtlCol="0" anchor="t">
            <a:spAutoFit/>
          </a:bodyPr>
          <a:lstStyle/>
          <a:p>
            <a:pPr marL="0" indent="0" algn="l">
              <a:lnSpc>
                <a:spcPts val="1500"/>
              </a:lnSpc>
              <a:buNone/>
            </a:pPr>
            <a:r>
              <a:rPr lang="en-US" sz="1100" dirty="0">
                <a:solidFill>
                  <a:srgbClr val="334155"/>
                </a:solidFill>
              </a:rPr>
              <a:t>Riduce l'impatto degli outlier di lusso, rendendo il modello più preciso sulla fascia di mercato più comune.</a:t>
            </a:r>
            <a:endParaRPr lang="en-US" sz="1100" dirty="0"/>
          </a:p>
        </p:txBody>
      </p:sp>
      <p:pic>
        <p:nvPicPr>
          <p:cNvPr id="13" name="Image 2" descr="preencoded.png"/>
          <p:cNvPicPr>
            <a:picLocks noChangeAspect="1"/>
          </p:cNvPicPr>
          <p:nvPr/>
        </p:nvPicPr>
        <p:blipFill>
          <a:blip r:embed="rId5"/>
          <a:stretch>
            <a:fillRect/>
          </a:stretch>
        </p:blipFill>
        <p:spPr>
          <a:xfrm>
            <a:off x="6079331" y="2677120"/>
            <a:ext cx="117872" cy="157163"/>
          </a:xfrm>
          <a:prstGeom prst="rect">
            <a:avLst/>
          </a:prstGeom>
        </p:spPr>
      </p:pic>
      <p:sp>
        <p:nvSpPr>
          <p:cNvPr id="14" name="Text 8"/>
          <p:cNvSpPr/>
          <p:nvPr/>
        </p:nvSpPr>
        <p:spPr>
          <a:xfrm>
            <a:off x="6304359" y="2648545"/>
            <a:ext cx="949940" cy="184922"/>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10B981"/>
                </a:solidFill>
              </a:rPr>
              <a:t>Errore Relativo</a:t>
            </a:r>
            <a:endParaRPr lang="en-US" sz="1200" dirty="0"/>
          </a:p>
        </p:txBody>
      </p:sp>
      <p:sp>
        <p:nvSpPr>
          <p:cNvPr id="15" name="Text 9"/>
          <p:cNvSpPr/>
          <p:nvPr/>
        </p:nvSpPr>
        <p:spPr>
          <a:xfrm>
            <a:off x="6079331" y="2934295"/>
            <a:ext cx="2636044" cy="578644"/>
          </a:xfrm>
          <a:prstGeom prst="rect">
            <a:avLst/>
          </a:prstGeom>
          <a:noFill/>
          <a:ln/>
        </p:spPr>
        <p:txBody>
          <a:bodyPr wrap="square" lIns="0" tIns="0" rIns="0" bIns="0" rtlCol="0" anchor="t">
            <a:spAutoFit/>
          </a:bodyPr>
          <a:lstStyle/>
          <a:p>
            <a:pPr marL="0" indent="0" algn="l">
              <a:lnSpc>
                <a:spcPts val="1500"/>
              </a:lnSpc>
              <a:buNone/>
            </a:pPr>
            <a:r>
              <a:rPr lang="en-US" sz="1100" dirty="0">
                <a:solidFill>
                  <a:srgbClr val="334155"/>
                </a:solidFill>
              </a:rPr>
              <a:t>Ottimizza l'errore in termini percentuali: un errore di 100$ è pesato diversamente in base al valore del diamante.</a:t>
            </a:r>
            <a:endParaRPr lang="en-US" sz="1100" dirty="0"/>
          </a:p>
        </p:txBody>
      </p:sp>
      <p:sp>
        <p:nvSpPr>
          <p:cNvPr id="16" name="Text 10"/>
          <p:cNvSpPr/>
          <p:nvPr/>
        </p:nvSpPr>
        <p:spPr>
          <a:xfrm>
            <a:off x="2857500" y="3927277"/>
            <a:ext cx="5857875" cy="153888"/>
          </a:xfrm>
          <a:prstGeom prst="rect">
            <a:avLst/>
          </a:prstGeom>
          <a:noFill/>
          <a:ln/>
        </p:spPr>
        <p:txBody>
          <a:bodyPr wrap="square" lIns="170053" tIns="0" rIns="0" bIns="0" rtlCol="0" anchor="t">
            <a:spAutoFit/>
          </a:bodyPr>
          <a:lstStyle/>
          <a:p>
            <a:pPr marL="0" indent="0" algn="l">
              <a:lnSpc>
                <a:spcPts val="1200"/>
              </a:lnSpc>
              <a:buNone/>
            </a:pPr>
            <a:r>
              <a:rPr lang="en-US" sz="1100" dirty="0">
                <a:solidFill>
                  <a:srgbClr val="334155"/>
                </a:solidFill>
              </a:rPr>
              <a:t>In fase di predizione, viene applicata la funzione inversa </a:t>
            </a:r>
            <a:r>
              <a:rPr lang="en-US" sz="1100" b="1" dirty="0">
                <a:solidFill>
                  <a:srgbClr val="10B981"/>
                </a:solidFill>
              </a:rPr>
              <a:t>exp(x) - 1</a:t>
            </a:r>
            <a:r>
              <a:rPr lang="en-US" sz="1100" dirty="0">
                <a:solidFill>
                  <a:srgbClr val="334155"/>
                </a:solidFill>
              </a:rPr>
              <a:t> per riportare i valori in dollari.</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Analisi delle Prestazioni</a:t>
            </a:r>
            <a:endParaRPr lang="en-US" sz="1602" dirty="0"/>
          </a:p>
        </p:txBody>
      </p:sp>
      <p:sp>
        <p:nvSpPr>
          <p:cNvPr id="6" name="Shape 2"/>
          <p:cNvSpPr/>
          <p:nvPr/>
        </p:nvSpPr>
        <p:spPr>
          <a:xfrm>
            <a:off x="2857500" y="714375"/>
            <a:ext cx="979196" cy="344686"/>
          </a:xfrm>
          <a:prstGeom prst="rect">
            <a:avLst/>
          </a:prstGeom>
          <a:solidFill>
            <a:srgbClr val="334155"/>
          </a:solidFill>
          <a:ln/>
        </p:spPr>
      </p:sp>
      <p:sp>
        <p:nvSpPr>
          <p:cNvPr id="7" name="Text 3"/>
          <p:cNvSpPr/>
          <p:nvPr/>
        </p:nvSpPr>
        <p:spPr>
          <a:xfrm>
            <a:off x="2857500" y="714375"/>
            <a:ext cx="979196" cy="344686"/>
          </a:xfrm>
          <a:prstGeom prst="rect">
            <a:avLst/>
          </a:prstGeom>
          <a:noFill/>
          <a:ln/>
        </p:spPr>
        <p:txBody>
          <a:bodyPr wrap="square" lIns="170053" tIns="170053" rIns="8509" bIns="8509" rtlCol="0" anchor="ctr">
            <a:spAutoFit/>
          </a:bodyPr>
          <a:lstStyle/>
          <a:p>
            <a:pPr marL="0" indent="0" algn="l">
              <a:lnSpc>
                <a:spcPts val="1400"/>
              </a:lnSpc>
              <a:buNone/>
            </a:pPr>
            <a:r>
              <a:rPr lang="en-US" sz="987" b="1" dirty="0">
                <a:solidFill>
                  <a:srgbClr val="FFFFFF"/>
                </a:solidFill>
              </a:rPr>
              <a:t>Metrica</a:t>
            </a:r>
            <a:endParaRPr lang="en-US" sz="987" dirty="0"/>
          </a:p>
        </p:txBody>
      </p:sp>
      <p:sp>
        <p:nvSpPr>
          <p:cNvPr id="8" name="Shape 4"/>
          <p:cNvSpPr/>
          <p:nvPr/>
        </p:nvSpPr>
        <p:spPr>
          <a:xfrm>
            <a:off x="3836696" y="714375"/>
            <a:ext cx="1884304" cy="344686"/>
          </a:xfrm>
          <a:prstGeom prst="rect">
            <a:avLst/>
          </a:prstGeom>
          <a:solidFill>
            <a:srgbClr val="334155"/>
          </a:solidFill>
          <a:ln/>
        </p:spPr>
      </p:sp>
      <p:sp>
        <p:nvSpPr>
          <p:cNvPr id="9" name="Text 5"/>
          <p:cNvSpPr/>
          <p:nvPr/>
        </p:nvSpPr>
        <p:spPr>
          <a:xfrm>
            <a:off x="3836696" y="714375"/>
            <a:ext cx="1884304" cy="344686"/>
          </a:xfrm>
          <a:prstGeom prst="rect">
            <a:avLst/>
          </a:prstGeom>
          <a:noFill/>
          <a:ln/>
        </p:spPr>
        <p:txBody>
          <a:bodyPr wrap="square" lIns="170053" tIns="170053" rIns="8509" bIns="8509" rtlCol="0" anchor="ctr">
            <a:spAutoFit/>
          </a:bodyPr>
          <a:lstStyle/>
          <a:p>
            <a:pPr marL="0" indent="0" algn="l">
              <a:lnSpc>
                <a:spcPts val="1400"/>
              </a:lnSpc>
              <a:buNone/>
            </a:pPr>
            <a:r>
              <a:rPr lang="en-US" sz="987" b="1" dirty="0">
                <a:solidFill>
                  <a:srgbClr val="FFFFFF"/>
                </a:solidFill>
              </a:rPr>
              <a:t>Valore Ottenuto</a:t>
            </a:r>
            <a:endParaRPr lang="en-US" sz="987" dirty="0"/>
          </a:p>
        </p:txBody>
      </p:sp>
      <p:sp>
        <p:nvSpPr>
          <p:cNvPr id="10" name="Shape 6"/>
          <p:cNvSpPr/>
          <p:nvPr/>
        </p:nvSpPr>
        <p:spPr>
          <a:xfrm>
            <a:off x="5721000" y="714375"/>
            <a:ext cx="2994375" cy="344686"/>
          </a:xfrm>
          <a:prstGeom prst="rect">
            <a:avLst/>
          </a:prstGeom>
          <a:solidFill>
            <a:srgbClr val="334155"/>
          </a:solidFill>
          <a:ln/>
        </p:spPr>
      </p:sp>
      <p:sp>
        <p:nvSpPr>
          <p:cNvPr id="11" name="Text 7"/>
          <p:cNvSpPr/>
          <p:nvPr/>
        </p:nvSpPr>
        <p:spPr>
          <a:xfrm>
            <a:off x="5721000" y="714375"/>
            <a:ext cx="2994375" cy="344686"/>
          </a:xfrm>
          <a:prstGeom prst="rect">
            <a:avLst/>
          </a:prstGeom>
          <a:noFill/>
          <a:ln/>
        </p:spPr>
        <p:txBody>
          <a:bodyPr wrap="square" lIns="170053" tIns="170053" rIns="8509" bIns="8509" rtlCol="0" anchor="ctr">
            <a:spAutoFit/>
          </a:bodyPr>
          <a:lstStyle/>
          <a:p>
            <a:pPr marL="0" indent="0" algn="l">
              <a:lnSpc>
                <a:spcPts val="1400"/>
              </a:lnSpc>
              <a:buNone/>
            </a:pPr>
            <a:r>
              <a:rPr lang="en-US" sz="987" b="1" dirty="0">
                <a:solidFill>
                  <a:srgbClr val="FFFFFF"/>
                </a:solidFill>
              </a:rPr>
              <a:t>Significato</a:t>
            </a:r>
            <a:endParaRPr lang="en-US" sz="987" dirty="0"/>
          </a:p>
        </p:txBody>
      </p:sp>
      <p:sp>
        <p:nvSpPr>
          <p:cNvPr id="12" name="Text 8"/>
          <p:cNvSpPr/>
          <p:nvPr/>
        </p:nvSpPr>
        <p:spPr>
          <a:xfrm>
            <a:off x="2857500" y="1059061"/>
            <a:ext cx="979196" cy="407194"/>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R² Score</a:t>
            </a:r>
            <a:endParaRPr lang="en-US" sz="1159" dirty="0"/>
          </a:p>
        </p:txBody>
      </p:sp>
      <p:sp>
        <p:nvSpPr>
          <p:cNvPr id="13" name="Text 9"/>
          <p:cNvSpPr/>
          <p:nvPr/>
        </p:nvSpPr>
        <p:spPr>
          <a:xfrm>
            <a:off x="3836696" y="1059061"/>
            <a:ext cx="1884304" cy="407194"/>
          </a:xfrm>
          <a:prstGeom prst="rect">
            <a:avLst/>
          </a:prstGeom>
          <a:noFill/>
          <a:ln/>
        </p:spPr>
        <p:txBody>
          <a:bodyPr wrap="square" lIns="170053" tIns="212598" rIns="8509" bIns="8509" rtlCol="0" anchor="ctr">
            <a:spAutoFit/>
          </a:bodyPr>
          <a:lstStyle/>
          <a:p>
            <a:pPr marL="0" indent="0" algn="l">
              <a:lnSpc>
                <a:spcPts val="1500"/>
              </a:lnSpc>
              <a:buNone/>
            </a:pPr>
            <a:r>
              <a:rPr lang="en-US" sz="1090" b="1" dirty="0">
                <a:solidFill>
                  <a:srgbClr val="0F172A"/>
                </a:solidFill>
              </a:rPr>
              <a:t>0.9882</a:t>
            </a:r>
            <a:endParaRPr lang="en-US" sz="1090" dirty="0"/>
          </a:p>
        </p:txBody>
      </p:sp>
      <p:sp>
        <p:nvSpPr>
          <p:cNvPr id="14" name="Text 10"/>
          <p:cNvSpPr/>
          <p:nvPr/>
        </p:nvSpPr>
        <p:spPr>
          <a:xfrm>
            <a:off x="5721000" y="1059061"/>
            <a:ext cx="2994375" cy="407194"/>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Precisione globale del modello</a:t>
            </a:r>
            <a:endParaRPr lang="en-US" sz="1159" dirty="0"/>
          </a:p>
        </p:txBody>
      </p:sp>
      <p:sp>
        <p:nvSpPr>
          <p:cNvPr id="15" name="Text 11"/>
          <p:cNvSpPr/>
          <p:nvPr/>
        </p:nvSpPr>
        <p:spPr>
          <a:xfrm>
            <a:off x="2857500" y="1466255"/>
            <a:ext cx="979196" cy="414338"/>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MAE</a:t>
            </a:r>
            <a:endParaRPr lang="en-US" sz="1159" dirty="0"/>
          </a:p>
        </p:txBody>
      </p:sp>
      <p:sp>
        <p:nvSpPr>
          <p:cNvPr id="16" name="Text 12"/>
          <p:cNvSpPr/>
          <p:nvPr/>
        </p:nvSpPr>
        <p:spPr>
          <a:xfrm>
            <a:off x="3836696" y="1466255"/>
            <a:ext cx="1884304" cy="414338"/>
          </a:xfrm>
          <a:prstGeom prst="rect">
            <a:avLst/>
          </a:prstGeom>
          <a:noFill/>
          <a:ln/>
        </p:spPr>
        <p:txBody>
          <a:bodyPr wrap="square" lIns="170053" tIns="212598" rIns="8509" bIns="8509" rtlCol="0" anchor="ctr">
            <a:spAutoFit/>
          </a:bodyPr>
          <a:lstStyle/>
          <a:p>
            <a:pPr marL="0" indent="0" algn="l">
              <a:lnSpc>
                <a:spcPts val="1500"/>
              </a:lnSpc>
              <a:buNone/>
            </a:pPr>
            <a:r>
              <a:rPr lang="en-US" sz="1090" b="1" dirty="0">
                <a:solidFill>
                  <a:srgbClr val="0F172A"/>
                </a:solidFill>
              </a:rPr>
              <a:t>$618.33</a:t>
            </a:r>
            <a:endParaRPr lang="en-US" sz="1090" dirty="0"/>
          </a:p>
        </p:txBody>
      </p:sp>
      <p:sp>
        <p:nvSpPr>
          <p:cNvPr id="17" name="Text 13"/>
          <p:cNvSpPr/>
          <p:nvPr/>
        </p:nvSpPr>
        <p:spPr>
          <a:xfrm>
            <a:off x="5721000" y="1466255"/>
            <a:ext cx="2994375" cy="414338"/>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Errore medio assoluto</a:t>
            </a:r>
            <a:endParaRPr lang="en-US" sz="1159" dirty="0"/>
          </a:p>
        </p:txBody>
      </p:sp>
      <p:sp>
        <p:nvSpPr>
          <p:cNvPr id="18" name="Text 14"/>
          <p:cNvSpPr/>
          <p:nvPr/>
        </p:nvSpPr>
        <p:spPr>
          <a:xfrm>
            <a:off x="2857500" y="1880592"/>
            <a:ext cx="979196" cy="414338"/>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RMSE</a:t>
            </a:r>
            <a:endParaRPr lang="en-US" sz="1159" dirty="0"/>
          </a:p>
        </p:txBody>
      </p:sp>
      <p:sp>
        <p:nvSpPr>
          <p:cNvPr id="19" name="Text 15"/>
          <p:cNvSpPr/>
          <p:nvPr/>
        </p:nvSpPr>
        <p:spPr>
          <a:xfrm>
            <a:off x="3836696" y="1880592"/>
            <a:ext cx="1884304" cy="414338"/>
          </a:xfrm>
          <a:prstGeom prst="rect">
            <a:avLst/>
          </a:prstGeom>
          <a:noFill/>
          <a:ln/>
        </p:spPr>
        <p:txBody>
          <a:bodyPr wrap="square" lIns="170053" tIns="212598" rIns="8509" bIns="8509" rtlCol="0" anchor="ctr">
            <a:spAutoFit/>
          </a:bodyPr>
          <a:lstStyle/>
          <a:p>
            <a:pPr marL="0" indent="0" algn="l">
              <a:lnSpc>
                <a:spcPts val="1500"/>
              </a:lnSpc>
              <a:buNone/>
            </a:pPr>
            <a:r>
              <a:rPr lang="en-US" sz="1090" b="1" dirty="0">
                <a:solidFill>
                  <a:srgbClr val="0F172A"/>
                </a:solidFill>
              </a:rPr>
              <a:t>$1123.58</a:t>
            </a:r>
            <a:endParaRPr lang="en-US" sz="1090" dirty="0"/>
          </a:p>
        </p:txBody>
      </p:sp>
      <p:sp>
        <p:nvSpPr>
          <p:cNvPr id="20" name="Text 16"/>
          <p:cNvSpPr/>
          <p:nvPr/>
        </p:nvSpPr>
        <p:spPr>
          <a:xfrm>
            <a:off x="5721000" y="1880592"/>
            <a:ext cx="2994375" cy="414338"/>
          </a:xfrm>
          <a:prstGeom prst="rect">
            <a:avLst/>
          </a:prstGeom>
          <a:noFill/>
          <a:ln/>
        </p:spPr>
        <p:txBody>
          <a:bodyPr wrap="square" lIns="170053" tIns="212598" rIns="8509" bIns="8509" rtlCol="0" anchor="ctr">
            <a:spAutoFit/>
          </a:bodyPr>
          <a:lstStyle/>
          <a:p>
            <a:pPr marL="0" indent="0" algn="l">
              <a:lnSpc>
                <a:spcPts val="1500"/>
              </a:lnSpc>
              <a:buNone/>
            </a:pPr>
            <a:r>
              <a:rPr lang="en-US" sz="1159" dirty="0">
                <a:solidFill>
                  <a:srgbClr val="0F172A"/>
                </a:solidFill>
              </a:rPr>
              <a:t>Penalità per errori elevati</a:t>
            </a:r>
            <a:endParaRPr lang="en-US" sz="1159" dirty="0"/>
          </a:p>
        </p:txBody>
      </p:sp>
      <p:sp>
        <p:nvSpPr>
          <p:cNvPr id="21" name="Shape 17"/>
          <p:cNvSpPr/>
          <p:nvPr/>
        </p:nvSpPr>
        <p:spPr>
          <a:xfrm>
            <a:off x="2857500" y="2730698"/>
            <a:ext cx="5857875" cy="1071563"/>
          </a:xfrm>
          <a:prstGeom prst="rect">
            <a:avLst/>
          </a:prstGeom>
          <a:solidFill>
            <a:srgbClr val="10B981"/>
          </a:solidFill>
          <a:ln/>
        </p:spPr>
      </p:sp>
      <p:sp>
        <p:nvSpPr>
          <p:cNvPr id="22" name="Text 18"/>
          <p:cNvSpPr/>
          <p:nvPr/>
        </p:nvSpPr>
        <p:spPr>
          <a:xfrm>
            <a:off x="3071813" y="2945011"/>
            <a:ext cx="5429250" cy="23395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FFFFFF"/>
                </a:solidFill>
              </a:rPr>
              <a:t>Risultato Eccellente</a:t>
            </a:r>
            <a:endParaRPr lang="en-US" sz="1193" dirty="0"/>
          </a:p>
        </p:txBody>
      </p:sp>
      <p:sp>
        <p:nvSpPr>
          <p:cNvPr id="23" name="Text 19"/>
          <p:cNvSpPr/>
          <p:nvPr/>
        </p:nvSpPr>
        <p:spPr>
          <a:xfrm>
            <a:off x="3071813" y="3350419"/>
            <a:ext cx="5429250" cy="360034"/>
          </a:xfrm>
          <a:prstGeom prst="rect">
            <a:avLst/>
          </a:prstGeom>
          <a:noFill/>
          <a:ln/>
        </p:spPr>
        <p:txBody>
          <a:bodyPr wrap="square" lIns="0" tIns="0" rIns="0" bIns="0" rtlCol="0" anchor="t">
            <a:spAutoFit/>
          </a:bodyPr>
          <a:lstStyle/>
          <a:p>
            <a:pPr marL="0" indent="0" algn="l">
              <a:lnSpc>
                <a:spcPts val="1400"/>
              </a:lnSpc>
              <a:buNone/>
            </a:pPr>
            <a:r>
              <a:rPr lang="en-US" sz="1100" dirty="0">
                <a:solidFill>
                  <a:srgbClr val="FFFFFF"/>
                </a:solidFill>
              </a:rPr>
              <a:t>Il modello spiega oltre il 98% della varianza dei dati, dimostrando una capacità predittiva estremamente elevata e affidabile per il mercato dei diamanti.</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Validazione del Modello</a:t>
            </a:r>
            <a:endParaRPr lang="en-US" sz="1602" dirty="0"/>
          </a:p>
        </p:txBody>
      </p:sp>
      <p:sp>
        <p:nvSpPr>
          <p:cNvPr id="6" name="Text 2"/>
          <p:cNvSpPr/>
          <p:nvPr/>
        </p:nvSpPr>
        <p:spPr>
          <a:xfrm>
            <a:off x="2857500" y="428625"/>
            <a:ext cx="5857875" cy="489493"/>
          </a:xfrm>
          <a:prstGeom prst="rect">
            <a:avLst/>
          </a:prstGeom>
          <a:noFill/>
          <a:ln/>
        </p:spPr>
        <p:txBody>
          <a:bodyPr wrap="square" lIns="0" tIns="0" rIns="0" bIns="0" rtlCol="0" anchor="t">
            <a:spAutoFit/>
          </a:bodyPr>
          <a:lstStyle/>
          <a:p>
            <a:pPr marL="0" indent="0" algn="l">
              <a:lnSpc>
                <a:spcPts val="2000"/>
              </a:lnSpc>
              <a:buNone/>
            </a:pPr>
            <a:r>
              <a:rPr lang="en-US" sz="1100" dirty="0">
                <a:solidFill>
                  <a:srgbClr val="334155"/>
                </a:solidFill>
              </a:rPr>
              <a:t>Il confronto tra i </a:t>
            </a:r>
            <a:r>
              <a:rPr lang="en-US" sz="1100" b="1" dirty="0">
                <a:solidFill>
                  <a:srgbClr val="334155"/>
                </a:solidFill>
              </a:rPr>
              <a:t>Prezzi Reali</a:t>
            </a:r>
            <a:r>
              <a:rPr lang="en-US" sz="1100" dirty="0">
                <a:solidFill>
                  <a:srgbClr val="334155"/>
                </a:solidFill>
              </a:rPr>
              <a:t> e i </a:t>
            </a:r>
            <a:r>
              <a:rPr lang="en-US" sz="1100" b="1" dirty="0">
                <a:solidFill>
                  <a:srgbClr val="334155"/>
                </a:solidFill>
              </a:rPr>
              <a:t>Prezzi Predetti</a:t>
            </a:r>
            <a:r>
              <a:rPr lang="en-US" sz="1100" dirty="0">
                <a:solidFill>
                  <a:srgbClr val="334155"/>
                </a:solidFill>
              </a:rPr>
              <a:t> è la prova definitiva dell'efficacia del modello Random Forest con trasformazione logaritmica.</a:t>
            </a:r>
            <a:endParaRPr lang="en-US" sz="1100" dirty="0"/>
          </a:p>
        </p:txBody>
      </p:sp>
      <p:sp>
        <p:nvSpPr>
          <p:cNvPr id="7" name="Shape 3"/>
          <p:cNvSpPr/>
          <p:nvPr/>
        </p:nvSpPr>
        <p:spPr>
          <a:xfrm>
            <a:off x="2857500" y="1131559"/>
            <a:ext cx="5857875" cy="492919"/>
          </a:xfrm>
          <a:prstGeom prst="rect">
            <a:avLst/>
          </a:prstGeom>
          <a:solidFill>
            <a:srgbClr val="10B981"/>
          </a:solidFill>
          <a:ln/>
        </p:spPr>
      </p:sp>
      <p:sp>
        <p:nvSpPr>
          <p:cNvPr id="8" name="Shape 4"/>
          <p:cNvSpPr/>
          <p:nvPr/>
        </p:nvSpPr>
        <p:spPr>
          <a:xfrm>
            <a:off x="2857500" y="1131559"/>
            <a:ext cx="71438" cy="492919"/>
          </a:xfrm>
          <a:prstGeom prst="rect">
            <a:avLst/>
          </a:prstGeom>
          <a:solidFill>
            <a:srgbClr val="0F172A"/>
          </a:solidFill>
          <a:ln/>
        </p:spPr>
      </p:sp>
      <p:sp>
        <p:nvSpPr>
          <p:cNvPr id="9" name="Text 5"/>
          <p:cNvSpPr/>
          <p:nvPr/>
        </p:nvSpPr>
        <p:spPr>
          <a:xfrm>
            <a:off x="3036094" y="1274434"/>
            <a:ext cx="5500688" cy="307777"/>
          </a:xfrm>
          <a:prstGeom prst="rect">
            <a:avLst/>
          </a:prstGeom>
          <a:noFill/>
          <a:ln/>
        </p:spPr>
        <p:txBody>
          <a:bodyPr wrap="square" lIns="0" tIns="0" rIns="0" bIns="0" rtlCol="0" anchor="t">
            <a:spAutoFit/>
          </a:bodyPr>
          <a:lstStyle/>
          <a:p>
            <a:pPr marL="0" indent="0" algn="l">
              <a:lnSpc>
                <a:spcPts val="1200"/>
              </a:lnSpc>
              <a:buNone/>
            </a:pPr>
            <a:r>
              <a:rPr lang="en-US" sz="1100" dirty="0">
                <a:solidFill>
                  <a:srgbClr val="FFFFFF"/>
                </a:solidFill>
              </a:rPr>
              <a:t>ANALISI: L'allineamento dei punti lungo la diagonale rossa a 45° indica che il modello cattura correttamente l'andamento del mercato senza distorsioni sistematiche.</a:t>
            </a:r>
            <a:endParaRPr lang="en-US" sz="1100" dirty="0"/>
          </a:p>
        </p:txBody>
      </p:sp>
      <p:pic>
        <p:nvPicPr>
          <p:cNvPr id="10" name="Image 1" descr="preencoded.png"/>
          <p:cNvPicPr>
            <a:picLocks noChangeAspect="1"/>
          </p:cNvPicPr>
          <p:nvPr/>
        </p:nvPicPr>
        <p:blipFill>
          <a:blip r:embed="rId4"/>
          <a:stretch>
            <a:fillRect/>
          </a:stretch>
        </p:blipFill>
        <p:spPr>
          <a:xfrm>
            <a:off x="2928938" y="1963568"/>
            <a:ext cx="4944275" cy="29665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1166971"/>
          </a:xfrm>
          <a:prstGeom prst="rect">
            <a:avLst/>
          </a:prstGeom>
          <a:solidFill>
            <a:srgbClr val="0F172A"/>
          </a:solidFill>
          <a:ln/>
        </p:spPr>
      </p:sp>
      <p:sp>
        <p:nvSpPr>
          <p:cNvPr id="5" name="Text 1"/>
          <p:cNvSpPr/>
          <p:nvPr/>
        </p:nvSpPr>
        <p:spPr>
          <a:xfrm>
            <a:off x="145258" y="404347"/>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Diagnostica del Modello</a:t>
            </a:r>
            <a:endParaRPr lang="en-US" sz="1602" dirty="0"/>
          </a:p>
        </p:txBody>
      </p:sp>
      <p:sp>
        <p:nvSpPr>
          <p:cNvPr id="6" name="Text 2"/>
          <p:cNvSpPr/>
          <p:nvPr/>
        </p:nvSpPr>
        <p:spPr>
          <a:xfrm>
            <a:off x="1583087" y="1478857"/>
            <a:ext cx="1291892" cy="184922"/>
          </a:xfrm>
          <a:prstGeom prst="rect">
            <a:avLst/>
          </a:prstGeom>
          <a:noFill/>
          <a:ln/>
        </p:spPr>
        <p:txBody>
          <a:bodyPr wrap="none" lIns="127508" tIns="0" rIns="0" bIns="0" rtlCol="0" anchor="t">
            <a:spAutoFit/>
          </a:bodyPr>
          <a:lstStyle/>
          <a:p>
            <a:pPr marL="0" indent="0" algn="l">
              <a:lnSpc>
                <a:spcPts val="1500"/>
              </a:lnSpc>
              <a:buNone/>
            </a:pPr>
            <a:r>
              <a:rPr lang="en-US" sz="1200" b="1" dirty="0">
                <a:solidFill>
                  <a:srgbClr val="0F172A"/>
                </a:solidFill>
              </a:rPr>
              <a:t>Analisi dei Residui</a:t>
            </a:r>
            <a:endParaRPr lang="en-US" sz="1200" dirty="0"/>
          </a:p>
        </p:txBody>
      </p:sp>
      <p:sp>
        <p:nvSpPr>
          <p:cNvPr id="7" name="Text 3"/>
          <p:cNvSpPr/>
          <p:nvPr/>
        </p:nvSpPr>
        <p:spPr>
          <a:xfrm>
            <a:off x="746705" y="1838742"/>
            <a:ext cx="2964656" cy="500137"/>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334155"/>
                </a:solidFill>
              </a:rPr>
              <a:t>La distribuzione casuale dei punti intorno alla linea dello zero conferma che il modello è </a:t>
            </a:r>
            <a:r>
              <a:rPr lang="en-US" sz="1100" b="1" dirty="0">
                <a:solidFill>
                  <a:srgbClr val="10B981"/>
                </a:solidFill>
              </a:rPr>
              <a:t>imparziale</a:t>
            </a:r>
            <a:r>
              <a:rPr lang="en-US" sz="1100" dirty="0">
                <a:solidFill>
                  <a:srgbClr val="334155"/>
                </a:solidFill>
              </a:rPr>
              <a:t> e non presenta pattern di errore sistematico.</a:t>
            </a:r>
            <a:endParaRPr lang="en-US" sz="1100" dirty="0"/>
          </a:p>
        </p:txBody>
      </p:sp>
      <p:pic>
        <p:nvPicPr>
          <p:cNvPr id="8" name="Image 1" descr="preencoded.png"/>
          <p:cNvPicPr>
            <a:picLocks noChangeAspect="1"/>
          </p:cNvPicPr>
          <p:nvPr/>
        </p:nvPicPr>
        <p:blipFill rotWithShape="1">
          <a:blip r:embed="rId4"/>
          <a:srcRect t="11573" b="11507"/>
          <a:stretch/>
        </p:blipFill>
        <p:spPr>
          <a:xfrm>
            <a:off x="0" y="2499360"/>
            <a:ext cx="4458067" cy="2644140"/>
          </a:xfrm>
          <a:prstGeom prst="rect">
            <a:avLst/>
          </a:prstGeom>
        </p:spPr>
      </p:pic>
      <p:sp>
        <p:nvSpPr>
          <p:cNvPr id="9" name="Text 4"/>
          <p:cNvSpPr/>
          <p:nvPr/>
        </p:nvSpPr>
        <p:spPr>
          <a:xfrm>
            <a:off x="6295153" y="1478857"/>
            <a:ext cx="1388265" cy="184922"/>
          </a:xfrm>
          <a:prstGeom prst="rect">
            <a:avLst/>
          </a:prstGeom>
          <a:noFill/>
          <a:ln/>
        </p:spPr>
        <p:txBody>
          <a:bodyPr wrap="none" lIns="127508" tIns="0" rIns="0" bIns="0" rtlCol="0" anchor="t">
            <a:spAutoFit/>
          </a:bodyPr>
          <a:lstStyle/>
          <a:p>
            <a:pPr marL="0" indent="0" algn="l">
              <a:lnSpc>
                <a:spcPts val="1500"/>
              </a:lnSpc>
              <a:buNone/>
            </a:pPr>
            <a:r>
              <a:rPr lang="en-US" sz="1200" b="1" dirty="0">
                <a:solidFill>
                  <a:srgbClr val="0F172A"/>
                </a:solidFill>
              </a:rPr>
              <a:t>Feature Importance</a:t>
            </a:r>
            <a:endParaRPr lang="en-US" sz="1200" dirty="0"/>
          </a:p>
        </p:txBody>
      </p:sp>
      <p:sp>
        <p:nvSpPr>
          <p:cNvPr id="10" name="Text 5"/>
          <p:cNvSpPr/>
          <p:nvPr/>
        </p:nvSpPr>
        <p:spPr>
          <a:xfrm>
            <a:off x="5506958" y="1838741"/>
            <a:ext cx="2964656" cy="500137"/>
          </a:xfrm>
          <a:prstGeom prst="rect">
            <a:avLst/>
          </a:prstGeom>
          <a:noFill/>
          <a:ln/>
        </p:spPr>
        <p:txBody>
          <a:bodyPr wrap="square" lIns="0" tIns="0" rIns="0" bIns="0" rtlCol="0" anchor="t">
            <a:spAutoFit/>
          </a:bodyPr>
          <a:lstStyle/>
          <a:p>
            <a:pPr marL="0" indent="0" algn="l">
              <a:lnSpc>
                <a:spcPts val="1300"/>
              </a:lnSpc>
              <a:buNone/>
            </a:pPr>
            <a:r>
              <a:rPr lang="en-US" sz="1100" dirty="0">
                <a:solidFill>
                  <a:srgbClr val="334155"/>
                </a:solidFill>
              </a:rPr>
              <a:t>Il </a:t>
            </a:r>
            <a:r>
              <a:rPr lang="en-US" sz="1100" b="1" dirty="0">
                <a:solidFill>
                  <a:srgbClr val="10B981"/>
                </a:solidFill>
              </a:rPr>
              <a:t>Peso in Carati</a:t>
            </a:r>
            <a:r>
              <a:rPr lang="en-US" sz="1100" dirty="0">
                <a:solidFill>
                  <a:srgbClr val="334155"/>
                </a:solidFill>
              </a:rPr>
              <a:t> domina la previsione, seguito da Colore e Purezza, confermando i driver principali del valore di mercato</a:t>
            </a:r>
            <a:r>
              <a:rPr lang="en-US" sz="834" dirty="0">
                <a:solidFill>
                  <a:srgbClr val="334155"/>
                </a:solidFill>
              </a:rPr>
              <a:t>.</a:t>
            </a:r>
            <a:endParaRPr lang="en-US" sz="834" dirty="0"/>
          </a:p>
        </p:txBody>
      </p:sp>
      <p:pic>
        <p:nvPicPr>
          <p:cNvPr id="11" name="Image 2" descr="preencoded.png"/>
          <p:cNvPicPr>
            <a:picLocks noChangeAspect="1"/>
          </p:cNvPicPr>
          <p:nvPr/>
        </p:nvPicPr>
        <p:blipFill rotWithShape="1">
          <a:blip r:embed="rId5"/>
          <a:srcRect t="10689" b="11311"/>
          <a:stretch/>
        </p:blipFill>
        <p:spPr>
          <a:xfrm>
            <a:off x="4791133" y="2499361"/>
            <a:ext cx="4396307" cy="26441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2428875" cy="5143500"/>
          </a:xfrm>
          <a:prstGeom prst="rect">
            <a:avLst/>
          </a:prstGeom>
          <a:solidFill>
            <a:srgbClr val="0F172A"/>
          </a:solidFill>
          <a:ln/>
        </p:spPr>
      </p:sp>
      <p:sp>
        <p:nvSpPr>
          <p:cNvPr id="5" name="Text 1"/>
          <p:cNvSpPr/>
          <p:nvPr/>
        </p:nvSpPr>
        <p:spPr>
          <a:xfrm>
            <a:off x="285750" y="618353"/>
            <a:ext cx="2143125"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F1F5F9"/>
                </a:solidFill>
              </a:rPr>
              <a:t>Conclusioni e Futuro</a:t>
            </a:r>
            <a:endParaRPr lang="en-US" sz="1602" dirty="0"/>
          </a:p>
        </p:txBody>
      </p:sp>
      <p:sp>
        <p:nvSpPr>
          <p:cNvPr id="6" name="Text 2"/>
          <p:cNvSpPr/>
          <p:nvPr/>
        </p:nvSpPr>
        <p:spPr>
          <a:xfrm>
            <a:off x="2857500" y="714375"/>
            <a:ext cx="1580276" cy="294680"/>
          </a:xfrm>
          <a:prstGeom prst="rect">
            <a:avLst/>
          </a:prstGeom>
          <a:noFill/>
          <a:ln/>
        </p:spPr>
        <p:txBody>
          <a:bodyPr wrap="none" lIns="0" tIns="0" rIns="170053" bIns="0" rtlCol="0" anchor="t">
            <a:spAutoFit/>
          </a:bodyPr>
          <a:lstStyle/>
          <a:p>
            <a:pPr marL="0" indent="0" algn="l">
              <a:lnSpc>
                <a:spcPts val="1900"/>
              </a:lnSpc>
              <a:buNone/>
            </a:pPr>
            <a:r>
              <a:rPr lang="en-US" sz="1397" b="1" dirty="0">
                <a:solidFill>
                  <a:srgbClr val="0F172A"/>
                </a:solidFill>
              </a:rPr>
              <a:t>Risultati Finali</a:t>
            </a:r>
            <a:endParaRPr lang="en-US" sz="1397" dirty="0"/>
          </a:p>
        </p:txBody>
      </p:sp>
      <p:pic>
        <p:nvPicPr>
          <p:cNvPr id="7" name="Image 1" descr="preencoded.png"/>
          <p:cNvPicPr>
            <a:picLocks noChangeAspect="1"/>
          </p:cNvPicPr>
          <p:nvPr/>
        </p:nvPicPr>
        <p:blipFill>
          <a:blip r:embed="rId4"/>
          <a:stretch>
            <a:fillRect/>
          </a:stretch>
        </p:blipFill>
        <p:spPr>
          <a:xfrm>
            <a:off x="2914650" y="1387673"/>
            <a:ext cx="171450" cy="171450"/>
          </a:xfrm>
          <a:prstGeom prst="rect">
            <a:avLst/>
          </a:prstGeom>
        </p:spPr>
      </p:pic>
      <p:sp>
        <p:nvSpPr>
          <p:cNvPr id="8" name="Text 3"/>
          <p:cNvSpPr/>
          <p:nvPr/>
        </p:nvSpPr>
        <p:spPr>
          <a:xfrm>
            <a:off x="3286125" y="1330523"/>
            <a:ext cx="5429250" cy="436017"/>
          </a:xfrm>
          <a:prstGeom prst="rect">
            <a:avLst/>
          </a:prstGeom>
          <a:noFill/>
          <a:ln/>
        </p:spPr>
        <p:txBody>
          <a:bodyPr wrap="square" lIns="0" tIns="0" rIns="0" bIns="0" rtlCol="0" anchor="t">
            <a:spAutoFit/>
          </a:bodyPr>
          <a:lstStyle/>
          <a:p>
            <a:pPr marL="0" indent="0" algn="l">
              <a:lnSpc>
                <a:spcPts val="1700"/>
              </a:lnSpc>
              <a:buNone/>
            </a:pPr>
            <a:r>
              <a:rPr lang="en-US" sz="1100" dirty="0">
                <a:solidFill>
                  <a:srgbClr val="334155"/>
                </a:solidFill>
              </a:rPr>
              <a:t>L'architettura basata su Random Forest con trasformazione logaritmica si è dimostrata estremamente robusta e precisa.</a:t>
            </a:r>
            <a:endParaRPr lang="en-US" sz="1100" dirty="0"/>
          </a:p>
        </p:txBody>
      </p:sp>
      <p:pic>
        <p:nvPicPr>
          <p:cNvPr id="9" name="Image 2" descr="preencoded.png"/>
          <p:cNvPicPr>
            <a:picLocks noChangeAspect="1"/>
          </p:cNvPicPr>
          <p:nvPr/>
        </p:nvPicPr>
        <p:blipFill>
          <a:blip r:embed="rId4"/>
          <a:stretch>
            <a:fillRect/>
          </a:stretch>
        </p:blipFill>
        <p:spPr>
          <a:xfrm>
            <a:off x="2914650" y="1994892"/>
            <a:ext cx="171450" cy="171450"/>
          </a:xfrm>
          <a:prstGeom prst="rect">
            <a:avLst/>
          </a:prstGeom>
        </p:spPr>
      </p:pic>
      <p:sp>
        <p:nvSpPr>
          <p:cNvPr id="10" name="Text 4"/>
          <p:cNvSpPr/>
          <p:nvPr/>
        </p:nvSpPr>
        <p:spPr>
          <a:xfrm>
            <a:off x="3286125" y="1937742"/>
            <a:ext cx="5429250" cy="428625"/>
          </a:xfrm>
          <a:prstGeom prst="rect">
            <a:avLst/>
          </a:prstGeom>
          <a:noFill/>
          <a:ln/>
        </p:spPr>
        <p:txBody>
          <a:bodyPr wrap="square" lIns="0" tIns="0" rIns="0" bIns="0" rtlCol="0" anchor="t">
            <a:spAutoFit/>
          </a:bodyPr>
          <a:lstStyle/>
          <a:p>
            <a:pPr marL="0" indent="0" algn="l">
              <a:lnSpc>
                <a:spcPts val="1700"/>
              </a:lnSpc>
              <a:buNone/>
            </a:pPr>
            <a:r>
              <a:rPr lang="en-US" sz="1100" dirty="0">
                <a:solidFill>
                  <a:srgbClr val="334155"/>
                </a:solidFill>
              </a:rPr>
              <a:t>Il modello cattura efficacemente le relazioni non lineari tra le caratteristiche gemmologiche e il valore di mercato.</a:t>
            </a:r>
            <a:endParaRPr lang="en-US" sz="1100" dirty="0"/>
          </a:p>
        </p:txBody>
      </p:sp>
      <p:sp>
        <p:nvSpPr>
          <p:cNvPr id="11" name="Shape 5"/>
          <p:cNvSpPr/>
          <p:nvPr/>
        </p:nvSpPr>
        <p:spPr>
          <a:xfrm>
            <a:off x="2857500" y="2723555"/>
            <a:ext cx="5857875" cy="2051986"/>
          </a:xfrm>
          <a:prstGeom prst="rect">
            <a:avLst/>
          </a:prstGeom>
          <a:solidFill>
            <a:srgbClr val="334155"/>
          </a:solidFill>
          <a:ln/>
        </p:spPr>
      </p:sp>
      <p:sp>
        <p:nvSpPr>
          <p:cNvPr id="12" name="Text 6"/>
          <p:cNvSpPr/>
          <p:nvPr/>
        </p:nvSpPr>
        <p:spPr>
          <a:xfrm>
            <a:off x="3071813" y="2937867"/>
            <a:ext cx="926407" cy="184922"/>
          </a:xfrm>
          <a:prstGeom prst="rect">
            <a:avLst/>
          </a:prstGeom>
          <a:noFill/>
          <a:ln/>
        </p:spPr>
        <p:txBody>
          <a:bodyPr wrap="none" lIns="0" tIns="0" rIns="0" bIns="0" rtlCol="0" anchor="t">
            <a:spAutoFit/>
          </a:bodyPr>
          <a:lstStyle/>
          <a:p>
            <a:pPr marL="0" indent="0" algn="l">
              <a:lnSpc>
                <a:spcPts val="1500"/>
              </a:lnSpc>
              <a:buNone/>
            </a:pPr>
            <a:r>
              <a:rPr lang="en-US" sz="1200" b="1" dirty="0">
                <a:solidFill>
                  <a:srgbClr val="10B981"/>
                </a:solidFill>
              </a:rPr>
              <a:t>Sviluppi Futuri</a:t>
            </a:r>
            <a:endParaRPr lang="en-US" sz="1200" dirty="0"/>
          </a:p>
        </p:txBody>
      </p:sp>
      <p:sp>
        <p:nvSpPr>
          <p:cNvPr id="13" name="Text 7"/>
          <p:cNvSpPr/>
          <p:nvPr/>
        </p:nvSpPr>
        <p:spPr>
          <a:xfrm>
            <a:off x="3086100" y="3346321"/>
            <a:ext cx="5429250" cy="41143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FFFFFF"/>
                </a:solidFill>
              </a:rPr>
              <a:t>• Testare algoritmi di Gradient Boosting (XGBoost, LightGBM) per ridurre ulteriormente l'errore.</a:t>
            </a:r>
            <a:endParaRPr lang="en-US" sz="1100" dirty="0"/>
          </a:p>
        </p:txBody>
      </p:sp>
      <p:sp>
        <p:nvSpPr>
          <p:cNvPr id="14" name="Text 8"/>
          <p:cNvSpPr/>
          <p:nvPr/>
        </p:nvSpPr>
        <p:spPr>
          <a:xfrm>
            <a:off x="3071813" y="3901213"/>
            <a:ext cx="4073231" cy="191143"/>
          </a:xfrm>
          <a:prstGeom prst="rect">
            <a:avLst/>
          </a:prstGeom>
          <a:noFill/>
          <a:ln/>
        </p:spPr>
        <p:txBody>
          <a:bodyPr wrap="none" lIns="0" tIns="0" rIns="0" bIns="0" rtlCol="0" anchor="t">
            <a:spAutoFit/>
          </a:bodyPr>
          <a:lstStyle/>
          <a:p>
            <a:pPr marL="0" indent="0" algn="l">
              <a:lnSpc>
                <a:spcPts val="1600"/>
              </a:lnSpc>
              <a:buNone/>
            </a:pPr>
            <a:r>
              <a:rPr lang="en-US" sz="1100" dirty="0">
                <a:solidFill>
                  <a:srgbClr val="FFFFFF"/>
                </a:solidFill>
              </a:rPr>
              <a:t>• Integrare API di mercato per aggiornamenti dei prezzi in tempo reale.</a:t>
            </a:r>
            <a:endParaRPr lang="en-US" sz="1100" dirty="0"/>
          </a:p>
        </p:txBody>
      </p:sp>
      <p:sp>
        <p:nvSpPr>
          <p:cNvPr id="15" name="Text 9"/>
          <p:cNvSpPr/>
          <p:nvPr/>
        </p:nvSpPr>
        <p:spPr>
          <a:xfrm>
            <a:off x="3071813" y="4235518"/>
            <a:ext cx="5429250" cy="394595"/>
          </a:xfrm>
          <a:prstGeom prst="rect">
            <a:avLst/>
          </a:prstGeom>
          <a:noFill/>
          <a:ln/>
        </p:spPr>
        <p:txBody>
          <a:bodyPr wrap="square" lIns="0" tIns="0" rIns="0" bIns="0" rtlCol="0" anchor="t">
            <a:spAutoFit/>
          </a:bodyPr>
          <a:lstStyle/>
          <a:p>
            <a:pPr marL="0" indent="0" algn="l">
              <a:lnSpc>
                <a:spcPts val="1600"/>
              </a:lnSpc>
              <a:buNone/>
            </a:pPr>
            <a:r>
              <a:rPr lang="en-US" sz="1100" dirty="0">
                <a:solidFill>
                  <a:srgbClr val="FFFFFF"/>
                </a:solidFill>
              </a:rPr>
              <a:t>• Implementare un'interfaccia web per permettere agli utenti di stimare il valore dei propri diamanti.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2002</Words>
  <Application>Microsoft Office PowerPoint</Application>
  <PresentationFormat>Presentazione su schermo (16:9)</PresentationFormat>
  <Paragraphs>119</Paragraphs>
  <Slides>13</Slides>
  <Notes>13</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13</vt:i4>
      </vt:variant>
    </vt:vector>
  </HeadingPairs>
  <TitlesOfParts>
    <vt:vector size="16"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Diego Sullo</cp:lastModifiedBy>
  <cp:revision>5</cp:revision>
  <dcterms:created xsi:type="dcterms:W3CDTF">2026-02-18T11:41:01Z</dcterms:created>
  <dcterms:modified xsi:type="dcterms:W3CDTF">2026-02-18T13:58:45Z</dcterms:modified>
</cp:coreProperties>
</file>